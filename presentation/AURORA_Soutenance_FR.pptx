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8" r:id="rId8"/>
    <p:sldId id="269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45"/>
    <p:restoredTop sz="94620"/>
  </p:normalViewPr>
  <p:slideViewPr>
    <p:cSldViewPr snapToGrid="0" snapToObjects="1">
      <p:cViewPr varScale="1">
        <p:scale>
          <a:sx n="71" d="100"/>
          <a:sy n="71" d="100"/>
        </p:scale>
        <p:origin x="176" y="8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itaacisse-boop.github.io/EDI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-paris-sac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640080"/>
            <a:ext cx="2023136" cy="914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A1A1A"/>
                </a:solidFill>
                <a:latin typeface="Georgia"/>
              </a:defRPr>
            </a:pPr>
            <a:r>
              <a:t>Agrégation des Préférences Utilisateur sous Contraintes d'Équité, de Diversité et d'Inclusion par Résumé de Graphe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49039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>
                <a:solidFill>
                  <a:srgbClr val="63003C"/>
                </a:solidFill>
              </a:defRPr>
            </a:pPr>
            <a:r>
              <a:t>Mémoire de stage — Master 2 DataScale, Université Paris-Saclay (UVSQ)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63003C"/>
                </a:solidFill>
              </a:defRPr>
            </a:pPr>
            <a:r>
              <a:t>Auteure</a:t>
            </a:r>
          </a:p>
          <a:p>
            <a:pPr algn="ctr">
              <a:defRPr sz="1500">
                <a:solidFill>
                  <a:srgbClr val="1A1A1A"/>
                </a:solidFill>
              </a:defRPr>
            </a:pPr>
            <a:r>
              <a:t>Adji Marieme Sita Cissé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2272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63003C"/>
                </a:solidFill>
              </a:defRPr>
            </a:pPr>
            <a:r>
              <a:t>Encadrant</a:t>
            </a:r>
          </a:p>
          <a:p>
            <a:pPr algn="ctr">
              <a:defRPr sz="1500">
                <a:solidFill>
                  <a:srgbClr val="1A1A1A"/>
                </a:solidFill>
              </a:defRPr>
            </a:pPr>
            <a:r>
              <a:t>Prof. Malek Mouhoub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28432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63003C"/>
                </a:solidFill>
              </a:defRPr>
            </a:pPr>
            <a:r>
              <a:t>Tutrice pédagogique</a:t>
            </a:r>
          </a:p>
          <a:p>
            <a:pPr algn="ctr">
              <a:defRPr sz="1500">
                <a:solidFill>
                  <a:srgbClr val="1A1A1A"/>
                </a:solidFill>
              </a:defRPr>
            </a:pPr>
            <a:r>
              <a:t>Prof. Zoubida Kedad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55555"/>
                </a:solidFill>
              </a:defRPr>
            </a:pPr>
            <a:r>
              <a:t>Soutenance du 8 septembre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1.  Contexte et objectif du stage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2.  État de l'art — la lacune de recherche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3.  Approche proposée — AURORA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4.  Jeux de données, graphe biparti et démonstration en direct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5.  Conclusion et perspectives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Contexte et Objectif du Stage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Stage de recherche au Department of Computer Science, University of Regina (Saskatchewan, Canada)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Encadré par le Prof. Malek Mouhoub, responsable du Constraint Processing Lab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Sujet proposé par le Prof. Malek Mouhoub, développé de façon autonome · mobilité financée par la bourse Data IA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Objectif : représenter les préférences comme un graphe biparti attribué, et concevoir une méthode de résumé de graphe qui préserve explicitement l'équité, la diversité et l'inclusion (EDI)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Comparaison à 5 règles d'agrégation classiques, sur plusieurs domaines et configurations de biais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Problématique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Les règles d'agrégation classiques (Borda, Condorcet) favorisent systématiquement les groupes majoritaires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L'optimisation de la seule utilité renforce le biais majoritaire et les bulles de filtres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Les approches d'équité existantes agissent sur les entrées, les sorties, ou l'algorithme d'apprentissage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Le résumé de graphe a toujours optimisé la fidélité structurelle — jamais la préservation de l'EDI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Question de recherche : comment construire un résumé de graphe qui réduit sa taille tout en bornant la dégradation de l'équité, de la diversité et de l'inclusion 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Approche — Graphe et Métriques EDI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Graphe biparti attribué et pondéré  G = (U ∪ I, E, w, s)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s = attribut sensible, côté utilisateur (MovieLens, libimseti) ou côté item (Rate My Professors, OpenAlex)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Écart d'équité  ΔE = | utilityF(R) − utilityM(R) |   →  cible ≈ 0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Diversité intra-liste  ILD(R) = dissimilarité cosinus moyenne entre paires du top-k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Inclusion_g(R) = part du top-k notée ≥ θ par le groupe g   →  cible ≥ αg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Approche — AURORA : Coarsening sous Contraintes EDI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AURORA = Attributed Unified gRaph cOarsening for equitable RecommendAtion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Fusion itérative et gloutonne de nœuds utilisateurs similaires en super-nœuds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Une fusion n'est acceptée que si elle respecte les trois contraintes EDI simultanément :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ΔE(G′) ≤ ΔE(G) + εE     ILD(G′) ≥ ILD(G) − εD     inclusion_g(G′) ≥ inclusion_g(G) − εI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Budget de fusion = fraction fixe de |U| → même taux de compression quelle que soit l'échelle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Comparé à : Average Score, Borda, Borda pondéré, Condorcet, Fair Re-rank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63003C"/>
                </a:solidFill>
                <a:latin typeface="Georgia"/>
              </a:rPr>
              <a:t>Jeux de données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55555"/>
                </a:solidFill>
              </a:rPr>
              <a:t>7</a:t>
            </a:r>
          </a:p>
        </p:txBody>
      </p:sp>
      <p:pic>
        <p:nvPicPr>
          <p:cNvPr id="10" name="Picture 9" descr="fig_datasets_overview_full_f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6741" y="1330000"/>
            <a:ext cx="7008038" cy="465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6020000"/>
            <a:ext cx="1078992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55555"/>
                </a:solidFill>
              </a:rPr>
              <a:t>Figure extraite du mémoire — taille des corpus, déséquilibre de genre, répartition des notes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63003C"/>
                </a:solidFill>
                <a:latin typeface="Georgia"/>
              </a:rPr>
              <a:t>Le graphe biparti G et son résumé G′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00000"/>
            <a:ext cx="5244960" cy="3195073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0760" y="1500000"/>
            <a:ext cx="5244960" cy="31950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4745073"/>
            <a:ext cx="524496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55555"/>
                </a:solidFill>
              </a:rPr>
              <a:t>Graphe original 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30760" y="4745073"/>
            <a:ext cx="524496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55555"/>
                </a:solidFill>
              </a:rPr>
              <a:t>Graphe résumé G′ (fusion en super-nœuds)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045073"/>
            <a:ext cx="1078992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55555"/>
                </a:solidFill>
              </a:rPr>
              <a:t>Captures du tableau de bord interactif — sitaacisse-boop.github.io/EDI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55555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Validation — Démonstration en Direct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789920" cy="1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>
                <a:solidFill>
                  <a:srgbClr val="1A1A1A"/>
                </a:solidFill>
              </a:rPr>
              <a:t>•  5 jeux de données, 4 domaines : MovieLens 100k et 1M, libimseti.cz, Rate My Professors, OpenAlex</a:t>
            </a:r>
          </a:p>
          <a:p>
            <a:pPr>
              <a:spcAft>
                <a:spcPts val="1400"/>
              </a:spcAft>
            </a:pPr>
            <a:r>
              <a:rPr sz="2200">
                <a:solidFill>
                  <a:srgbClr val="1A1A1A"/>
                </a:solidFill>
              </a:rPr>
              <a:t>•  Bascule vers le tableau de bord interactif 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0380" y="3291840"/>
            <a:ext cx="4880760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 dirty="0">
                <a:solidFill>
                  <a:srgbClr val="63003C"/>
                </a:solidFill>
                <a:hlinkClick r:id="rId2"/>
              </a:rPr>
              <a:t>sitaacisse-boop.github.io/EDI</a:t>
            </a:r>
            <a:endParaRPr sz="3000" b="1" dirty="0">
              <a:solidFill>
                <a:srgbClr val="63003C"/>
              </a:solidFill>
              <a:hlinkClick r:id="rId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Conclusion — Résultats Clés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rPr sz="1900">
                <a:solidFill>
                  <a:srgbClr val="1A1A1A"/>
                </a:solidFill>
              </a:rPr>
              <a:t>•  Aucune méthode de référence ne satisfait les trois critères EDI simultanément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A1A1A"/>
                </a:solidFill>
              </a:rPr>
              <a:t>•  MovieLens 100k (k=20) : AURORA bat Borda et Condorcet sur ΔE, ILD et inclusion à la fois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A1A1A"/>
                </a:solidFill>
              </a:rPr>
              <a:t>•  Rate My Professors : 2ᵉ meilleure diversité (hors Average Score, dégénérée) et meilleure représentation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A1A1A"/>
                </a:solidFill>
              </a:rPr>
              <a:t>•  OpenAlex : meilleur ΔE de toutes les méthodes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555555"/>
                </a:solidFill>
              </a:rPr>
              <a:t>      ‒  libimseti.cz : AURORA ne réduit pas ΔE, comme les méthodes de vote (seules Average Score et Fair Re-rank y parviennent) — limite structurelle du domaine (genre des deux côtés du graphe), pas un défaut de réglage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A1A1A"/>
                </a:solidFill>
              </a:rPr>
              <a:t>•  MovieLens 1M (plus grand) : Fair Re-rank domine sur les deux axes — le re-classement a posteriori dispose de plus de marge de manœuvre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Conclusion — Contribution et 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Intégrer l'EDI directement dans la structure du résumé produit des compromis équité-diversité plus robustes que la correction a posteriori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AURORA égale ou dépasse le re-classement sur les corpus plus petits ou côté item, mais pas sur les grandes bases ou les domaines à préférences réciproques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Perspectives :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Attributs sensibles multiples et simultanés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Graphes de préférences dynamiques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Calibration des tolérances ε par analyse de front de Pareto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Fusion guidée par détection de communautés et impact EDI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Références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Aird et al. — Exploring Social Choice Mechanisms for Recommendation Fairness in SCRUF (2023)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Aird et al. — Social Choice for Heterogeneous Fairness in Recommendation, SCRUF-D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Dong et al. — Fairness in Graph Mining: A Survey. IEEE TKDE (2023)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Harper &amp; Konstan — The MovieLens Datasets: History and Context. ACM TiiS (2015)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Kellerhals &amp; Peters — Proportional Fairness in Clustering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Leonhardt et al. — User Fairness in Recommender Systems (2018)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Références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Liu et al. — Graph Summarization Methods and Applications: A Survey (2018)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Ricci, Rokach &amp; Shapira — Recommender Systems Handbook (2011)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Roy, Schieber &amp; Talmon — Fairness in Preference Queries. VLDB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Shabani et al. — Graph Summarization with GNNs: A Survey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Yao &amp; Huang — New Fairness Metrics for Recommendation (2017)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Zhao et al. — Fairness and Diversity in Recommender Systems: A Survey (2024)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56032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63003C"/>
                </a:solidFill>
              </a:defRPr>
            </a:pPr>
            <a:r>
              <a:t>Merci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555555"/>
                </a:solidFill>
              </a:defRPr>
            </a:pPr>
            <a:r>
              <a:t>Questions 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1040</Words>
  <Application>Microsoft Macintosh PowerPoint</Application>
  <PresentationFormat>Grand écran</PresentationFormat>
  <Paragraphs>93</Paragraphs>
  <Slides>14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18" baseType="lpstr">
      <vt:lpstr>Arial</vt:lpstr>
      <vt:lpstr>Calibri</vt:lpstr>
      <vt:lpstr>Georgia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Adji Cisse</cp:lastModifiedBy>
  <cp:revision>4</cp:revision>
  <dcterms:created xsi:type="dcterms:W3CDTF">2013-01-27T09:14:16Z</dcterms:created>
  <dcterms:modified xsi:type="dcterms:W3CDTF">2026-08-26T09:10:04Z</dcterms:modified>
  <cp:category/>
</cp:coreProperties>
</file>