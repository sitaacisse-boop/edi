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30"/>
    <p:restoredTop sz="71440"/>
  </p:normalViewPr>
  <p:slideViewPr>
    <p:cSldViewPr snapToGrid="0" snapToObjects="1">
      <p:cViewPr varScale="1">
        <p:scale>
          <a:sx n="76" d="100"/>
          <a:sy n="76" d="100"/>
        </p:scale>
        <p:origin x="59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E32DD-2BBF-E54C-AA90-1FF8494E5F3B}" type="datetimeFigureOut">
              <a:rPr lang="fr-FR" smtClean="0"/>
              <a:t>27/08/2026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9DD9CB-6CB9-4048-8E70-4A785DF481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932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SCRUF-D (Aird et al. 2023/2024) est le travail </a:t>
            </a:r>
            <a:r>
              <a:rPr dirty="0" err="1"/>
              <a:t>conceptuellement</a:t>
            </a:r>
            <a:r>
              <a:rPr dirty="0"/>
              <a:t> le plus </a:t>
            </a:r>
            <a:r>
              <a:rPr dirty="0" err="1"/>
              <a:t>proche</a:t>
            </a:r>
            <a:r>
              <a:rPr dirty="0"/>
              <a:t> : </a:t>
            </a:r>
            <a:r>
              <a:rPr dirty="0" err="1"/>
              <a:t>chaque</a:t>
            </a:r>
            <a:r>
              <a:rPr dirty="0"/>
              <a:t> preoccupation </a:t>
            </a:r>
            <a:r>
              <a:rPr dirty="0" err="1"/>
              <a:t>d'equite</a:t>
            </a:r>
            <a:r>
              <a:rPr dirty="0"/>
              <a:t> y est un agent qui vote (Borda/Copeland/Ranked Pairs) aux cotes du </a:t>
            </a:r>
            <a:r>
              <a:rPr dirty="0" err="1"/>
              <a:t>recommandeur</a:t>
            </a:r>
            <a:r>
              <a:rPr dirty="0"/>
              <a:t>, au moment de </a:t>
            </a:r>
            <a:r>
              <a:rPr dirty="0" err="1"/>
              <a:t>produire</a:t>
            </a:r>
            <a:r>
              <a:rPr dirty="0"/>
              <a:t> le </a:t>
            </a:r>
            <a:r>
              <a:rPr dirty="0" err="1"/>
              <a:t>classement</a:t>
            </a:r>
            <a:r>
              <a:rPr dirty="0"/>
              <a:t> final -- un post-</a:t>
            </a:r>
            <a:r>
              <a:rPr dirty="0" err="1"/>
              <a:t>traitement</a:t>
            </a:r>
            <a:r>
              <a:rPr dirty="0"/>
              <a:t>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qu'AURORA</a:t>
            </a:r>
            <a:r>
              <a:rPr dirty="0"/>
              <a:t> agit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amont</a:t>
            </a:r>
            <a:r>
              <a:rPr dirty="0"/>
              <a:t> sur la structure du </a:t>
            </a:r>
            <a:r>
              <a:rPr dirty="0" err="1"/>
              <a:t>graphe</a:t>
            </a:r>
            <a:r>
              <a:rPr dirty="0"/>
              <a:t> resume. Non </a:t>
            </a:r>
            <a:r>
              <a:rPr dirty="0" err="1"/>
              <a:t>implemente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/>
              <a:t>referentiel</a:t>
            </a:r>
            <a:r>
              <a:rPr dirty="0"/>
              <a:t> experimental car il </a:t>
            </a:r>
            <a:r>
              <a:rPr dirty="0" err="1"/>
              <a:t>exige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fonction</a:t>
            </a:r>
            <a:r>
              <a:rPr dirty="0"/>
              <a:t> </a:t>
            </a:r>
            <a:r>
              <a:rPr dirty="0" err="1"/>
              <a:t>d'utilite</a:t>
            </a:r>
            <a:r>
              <a:rPr dirty="0"/>
              <a:t> par preoccupation </a:t>
            </a:r>
            <a:r>
              <a:rPr dirty="0" err="1"/>
              <a:t>d'equite</a:t>
            </a:r>
            <a:r>
              <a:rPr dirty="0"/>
              <a:t> et un </a:t>
            </a:r>
            <a:r>
              <a:rPr dirty="0" err="1"/>
              <a:t>mecanisme</a:t>
            </a:r>
            <a:r>
              <a:rPr dirty="0"/>
              <a:t> de </a:t>
            </a:r>
            <a:r>
              <a:rPr dirty="0" err="1"/>
              <a:t>negociation</a:t>
            </a:r>
            <a:r>
              <a:rPr dirty="0"/>
              <a:t> inter-agents a </a:t>
            </a:r>
            <a:r>
              <a:rPr dirty="0" err="1"/>
              <a:t>concevoir</a:t>
            </a:r>
            <a:r>
              <a:rPr dirty="0"/>
              <a:t> et </a:t>
            </a:r>
            <a:r>
              <a:rPr dirty="0" err="1"/>
              <a:t>calibrer</a:t>
            </a:r>
            <a:r>
              <a:rPr dirty="0"/>
              <a:t> </a:t>
            </a:r>
            <a:r>
              <a:rPr dirty="0" err="1"/>
              <a:t>separement</a:t>
            </a:r>
            <a:r>
              <a:rPr dirty="0"/>
              <a:t> pour chacun des 4 corpus -- </a:t>
            </a:r>
            <a:r>
              <a:rPr dirty="0" err="1"/>
              <a:t>une</a:t>
            </a:r>
            <a:r>
              <a:rPr dirty="0"/>
              <a:t> contribution </a:t>
            </a:r>
            <a:r>
              <a:rPr dirty="0" err="1"/>
              <a:t>methodologique</a:t>
            </a:r>
            <a:r>
              <a:rPr dirty="0"/>
              <a:t> a part </a:t>
            </a:r>
            <a:r>
              <a:rPr dirty="0" err="1"/>
              <a:t>entiere</a:t>
            </a:r>
            <a:r>
              <a:rPr dirty="0"/>
              <a:t>, </a:t>
            </a:r>
            <a:r>
              <a:rPr dirty="0" err="1"/>
              <a:t>distincte</a:t>
            </a:r>
            <a:r>
              <a:rPr dirty="0"/>
              <a:t> du </a:t>
            </a:r>
            <a:r>
              <a:rPr dirty="0" err="1"/>
              <a:t>protocole</a:t>
            </a:r>
            <a:r>
              <a:rPr dirty="0"/>
              <a:t> a </a:t>
            </a:r>
            <a:r>
              <a:rPr dirty="0" err="1"/>
              <a:t>metriques</a:t>
            </a:r>
            <a:r>
              <a:rPr dirty="0"/>
              <a:t> EDI fixes </a:t>
            </a:r>
            <a:r>
              <a:rPr dirty="0" err="1"/>
              <a:t>utilise</a:t>
            </a:r>
            <a:r>
              <a:rPr dirty="0"/>
              <a:t> </a:t>
            </a:r>
            <a:r>
              <a:rPr dirty="0" err="1"/>
              <a:t>ici</a:t>
            </a:r>
            <a:r>
              <a:rPr dirty="0"/>
              <a:t>. Fair Re-rank (</a:t>
            </a:r>
            <a:r>
              <a:rPr dirty="0" err="1"/>
              <a:t>notre</a:t>
            </a:r>
            <a:r>
              <a:rPr dirty="0"/>
              <a:t> </a:t>
            </a:r>
            <a:r>
              <a:rPr dirty="0" err="1"/>
              <a:t>referentiel</a:t>
            </a:r>
            <a:r>
              <a:rPr dirty="0"/>
              <a:t> de post-</a:t>
            </a:r>
            <a:r>
              <a:rPr dirty="0" err="1"/>
              <a:t>traitement</a:t>
            </a:r>
            <a:r>
              <a:rPr dirty="0"/>
              <a:t>) </a:t>
            </a:r>
            <a:r>
              <a:rPr dirty="0" err="1"/>
              <a:t>reste</a:t>
            </a:r>
            <a:r>
              <a:rPr dirty="0"/>
              <a:t> comparable dans </a:t>
            </a:r>
            <a:r>
              <a:rPr dirty="0" err="1"/>
              <a:t>l'esprit</a:t>
            </a:r>
            <a:r>
              <a:rPr dirty="0"/>
              <a:t> sans </a:t>
            </a:r>
            <a:r>
              <a:rPr dirty="0" err="1"/>
              <a:t>requerir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architecture multi-agents. Une implementation </a:t>
            </a:r>
            <a:r>
              <a:rPr dirty="0" err="1"/>
              <a:t>fidele</a:t>
            </a:r>
            <a:r>
              <a:rPr dirty="0"/>
              <a:t> de SCRUF-D est </a:t>
            </a:r>
            <a:r>
              <a:rPr dirty="0" err="1"/>
              <a:t>laissee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/>
              <a:t>referentiel</a:t>
            </a:r>
            <a:r>
              <a:rPr dirty="0"/>
              <a:t> </a:t>
            </a:r>
            <a:r>
              <a:rPr dirty="0" err="1"/>
              <a:t>prioritaire</a:t>
            </a:r>
            <a:r>
              <a:rPr dirty="0"/>
              <a:t> pour un travail </a:t>
            </a:r>
            <a:r>
              <a:rPr dirty="0" err="1"/>
              <a:t>futur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9DD9CB-6CB9-4048-8E70-4A785DF481B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1120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</a:t>
            </a:r>
            <a:r>
              <a:rPr dirty="0" err="1"/>
              <a:t>resultats</a:t>
            </a:r>
            <a:r>
              <a:rPr dirty="0"/>
              <a:t> </a:t>
            </a:r>
            <a:r>
              <a:rPr dirty="0" err="1"/>
              <a:t>MovieLens</a:t>
            </a:r>
            <a:r>
              <a:rPr dirty="0"/>
              <a:t> 100k a k=10 </a:t>
            </a:r>
            <a:r>
              <a:rPr dirty="0" err="1"/>
              <a:t>reposent</a:t>
            </a:r>
            <a:r>
              <a:rPr dirty="0"/>
              <a:t> sur un unique passage </a:t>
            </a:r>
            <a:r>
              <a:rPr dirty="0" err="1"/>
              <a:t>deterministe</a:t>
            </a:r>
            <a:r>
              <a:rPr dirty="0"/>
              <a:t> sur </a:t>
            </a:r>
            <a:r>
              <a:rPr dirty="0" err="1"/>
              <a:t>l'integralite</a:t>
            </a:r>
            <a:r>
              <a:rPr dirty="0"/>
              <a:t> du jeu de </a:t>
            </a:r>
            <a:r>
              <a:rPr dirty="0" err="1"/>
              <a:t>donnees</a:t>
            </a:r>
            <a:r>
              <a:rPr dirty="0"/>
              <a:t>. </a:t>
            </a:r>
            <a:r>
              <a:rPr dirty="0" err="1"/>
              <a:t>Verifie</a:t>
            </a:r>
            <a:r>
              <a:rPr dirty="0"/>
              <a:t> par sous-</a:t>
            </a:r>
            <a:r>
              <a:rPr dirty="0" err="1"/>
              <a:t>echantillonnage</a:t>
            </a:r>
            <a:r>
              <a:rPr dirty="0"/>
              <a:t> SANS remise (90% de |U|, 30 repetitions) : AURORA bat Borda et Condorcet sur delta-E dans 28/30 tirages et sur </a:t>
            </a:r>
            <a:r>
              <a:rPr dirty="0" err="1"/>
              <a:t>l'ILD</a:t>
            </a:r>
            <a:r>
              <a:rPr dirty="0"/>
              <a:t> dans 30/30 (Weighted Borda : 24/30 et 30/30) -- </a:t>
            </a:r>
            <a:r>
              <a:rPr dirty="0" err="1"/>
              <a:t>l'avantage</a:t>
            </a:r>
            <a:r>
              <a:rPr dirty="0"/>
              <a:t> sur les </a:t>
            </a:r>
            <a:r>
              <a:rPr dirty="0" err="1"/>
              <a:t>regles</a:t>
            </a:r>
            <a:r>
              <a:rPr dirty="0"/>
              <a:t> de vote </a:t>
            </a:r>
            <a:r>
              <a:rPr dirty="0" err="1"/>
              <a:t>classiques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un artefact du tirage unique </a:t>
            </a:r>
            <a:r>
              <a:rPr dirty="0" err="1"/>
              <a:t>rapporte</a:t>
            </a:r>
            <a:r>
              <a:rPr dirty="0"/>
              <a:t>. Fair Re-rank </a:t>
            </a:r>
            <a:r>
              <a:rPr dirty="0" err="1"/>
              <a:t>reste</a:t>
            </a:r>
            <a:r>
              <a:rPr dirty="0"/>
              <a:t> </a:t>
            </a:r>
            <a:r>
              <a:rPr dirty="0" err="1"/>
              <a:t>devant</a:t>
            </a:r>
            <a:r>
              <a:rPr dirty="0"/>
              <a:t> AURORA sur les deux </a:t>
            </a:r>
            <a:r>
              <a:rPr dirty="0" err="1"/>
              <a:t>metriques</a:t>
            </a:r>
            <a:r>
              <a:rPr dirty="0"/>
              <a:t> dans les 30/30 tirages -- </a:t>
            </a:r>
            <a:r>
              <a:rPr dirty="0" err="1"/>
              <a:t>confirme</a:t>
            </a:r>
            <a:r>
              <a:rPr dirty="0"/>
              <a:t> </a:t>
            </a:r>
            <a:r>
              <a:rPr dirty="0" err="1"/>
              <a:t>robuste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, dans les deux </a:t>
            </a:r>
            <a:r>
              <a:rPr dirty="0" err="1"/>
              <a:t>sens.</a:t>
            </a:r>
            <a:r>
              <a:rPr dirty="0"/>
              <a:t> (Un premier </a:t>
            </a:r>
            <a:r>
              <a:rPr dirty="0" err="1"/>
              <a:t>essai</a:t>
            </a:r>
            <a:r>
              <a:rPr dirty="0"/>
              <a:t> avec un bootstrap </a:t>
            </a:r>
            <a:r>
              <a:rPr dirty="0" err="1"/>
              <a:t>classique</a:t>
            </a:r>
            <a:r>
              <a:rPr dirty="0"/>
              <a:t> -- tirage AVEC remise -- </a:t>
            </a:r>
            <a:r>
              <a:rPr dirty="0" err="1"/>
              <a:t>donnait</a:t>
            </a:r>
            <a:r>
              <a:rPr dirty="0"/>
              <a:t> des </a:t>
            </a:r>
            <a:r>
              <a:rPr dirty="0" err="1"/>
              <a:t>resultats</a:t>
            </a:r>
            <a:r>
              <a:rPr dirty="0"/>
              <a:t> </a:t>
            </a:r>
            <a:r>
              <a:rPr dirty="0" err="1"/>
              <a:t>trompeurs</a:t>
            </a:r>
            <a:r>
              <a:rPr dirty="0"/>
              <a:t> : environ 63% des </a:t>
            </a:r>
            <a:r>
              <a:rPr dirty="0" err="1"/>
              <a:t>utilisateurs</a:t>
            </a:r>
            <a:r>
              <a:rPr dirty="0"/>
              <a:t> tires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alors</a:t>
            </a:r>
            <a:r>
              <a:rPr dirty="0"/>
              <a:t> des </a:t>
            </a:r>
            <a:r>
              <a:rPr dirty="0" err="1"/>
              <a:t>doublons</a:t>
            </a:r>
            <a:r>
              <a:rPr dirty="0"/>
              <a:t> exacts,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avantage</a:t>
            </a:r>
            <a:r>
              <a:rPr dirty="0"/>
              <a:t> </a:t>
            </a:r>
            <a:r>
              <a:rPr dirty="0" err="1"/>
              <a:t>artificiellement</a:t>
            </a:r>
            <a:r>
              <a:rPr dirty="0"/>
              <a:t> les fusions de quasi-</a:t>
            </a:r>
            <a:r>
              <a:rPr dirty="0" err="1"/>
              <a:t>identiques</a:t>
            </a:r>
            <a:r>
              <a:rPr dirty="0"/>
              <a:t> dans le coarsening. </a:t>
            </a:r>
            <a:r>
              <a:rPr dirty="0" err="1"/>
              <a:t>D'ou</a:t>
            </a:r>
            <a:r>
              <a:rPr dirty="0"/>
              <a:t> le choix du sans-remise pour un test </a:t>
            </a:r>
            <a:r>
              <a:rPr dirty="0" err="1"/>
              <a:t>methodologiquement</a:t>
            </a:r>
            <a:r>
              <a:rPr dirty="0"/>
              <a:t> correct.)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itaacisse-boop.github.io/EDI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1.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2.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3.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4.  Jeux de données, graphe biparti et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5.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1. 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(Saskatchewan, Canada)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2.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l'EDI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4. 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380" y="3291840"/>
            <a:ext cx="48807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63003C"/>
                </a:solidFill>
                <a:hlinkClick r:id="rId2"/>
              </a:rPr>
              <a:t>sitaacisse-boop.github.io/EDI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rPr sz="1900">
                <a:solidFill>
                  <a:srgbClr val="1A1A1A"/>
                </a:solidFill>
              </a:rPr>
              <a:t>•  Aucune méthode de référence ne satisfait les trois critères EDI simultanément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pic>
        <p:nvPicPr>
          <p:cNvPr id="6" name="Picture 5" descr="shot_conclusion_table_fr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00000"/>
            <a:ext cx="10789920" cy="40167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1251</Words>
  <Application>Microsoft Macintosh PowerPoint</Application>
  <PresentationFormat>Grand écran</PresentationFormat>
  <Paragraphs>92</Paragraphs>
  <Slides>14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5</cp:revision>
  <dcterms:created xsi:type="dcterms:W3CDTF">2013-01-27T09:14:16Z</dcterms:created>
  <dcterms:modified xsi:type="dcterms:W3CDTF">2026-08-28T02:15:54Z</dcterms:modified>
  <cp:category/>
</cp:coreProperties>
</file>