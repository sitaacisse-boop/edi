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9" r:id="rId19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0"/>
  </p:normalViewPr>
  <p:slideViewPr>
    <p:cSldViewPr snapToGrid="0" snapToObjects="1">
      <p:cViewPr varScale="1">
        <p:scale>
          <a:sx n="102" d="100"/>
          <a:sy n="102" d="100"/>
        </p:scale>
        <p:origin x="21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-paris-sac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640080"/>
            <a:ext cx="2023136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1A1A1A"/>
                </a:solidFill>
                <a:latin typeface="Georgia"/>
              </a:defRPr>
            </a:pPr>
            <a:r>
              <a:t>Agrégation des Préférences Utilisateur sous Contraintes d'Équité, de Diversité et d'Inclusion par Résumé de Graphe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>
                <a:solidFill>
                  <a:srgbClr val="63003C"/>
                </a:solidFill>
              </a:defRPr>
            </a:pPr>
            <a:r>
              <a:t>Mémoire de stage — Master 2 DataScale, Université Paris-Saclay (UVSQ)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Auteure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Adji Marieme Sita Cissé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Encadrant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Prof. Malek Mouhoub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2" y="4663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3003C"/>
                </a:solidFill>
              </a:defRPr>
            </a:pPr>
            <a:r>
              <a:t>Tutrice pédagogique</a:t>
            </a:r>
          </a:p>
          <a:p>
            <a:pPr algn="ctr">
              <a:defRPr sz="1500">
                <a:solidFill>
                  <a:srgbClr val="1A1A1A"/>
                </a:solidFill>
              </a:defRPr>
            </a:pPr>
            <a:r>
              <a:t>Zoubida Kedad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55555"/>
                </a:solidFill>
              </a:defRPr>
            </a:pPr>
            <a:r>
              <a:t>Soutenance du 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Contexte et objectif du stage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État de l'art — la lacune de recherche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Approche proposée — AURORA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Validation — démonstration en direct</a:t>
            </a:r>
          </a:p>
          <a:p>
            <a:pPr>
              <a:spcAft>
                <a:spcPts val="1400"/>
              </a:spcAft>
              <a:defRPr sz="2400">
                <a:solidFill>
                  <a:srgbClr val="1A1A1A"/>
                </a:solidFill>
              </a:defRPr>
            </a:pPr>
            <a:r>
              <a:t>•  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Contexte et Objectif du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Stage de recherche au Department of Computer Science, University of Regina (Saskatchewan)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Encadré par le Prof. Malek Mouhoub, responsable du Constraint Processing Lab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Sujet proposé par le Prof. Malek Mouhoub, développé de façon autonome · mobilité financée par la bourse Data IA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Objectif : représenter les préférences comme un graphe biparti attribué, et concevoir une méthode de résumé de graphe qui préserve explicitement l'équité, la diversité et l'inclusion (EDI)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Comparaison à 5 règles d'agrégation classiques, sur plusieurs domaines et configurations de biais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règles d'agrégation classiques (Borda, Condorcet) favorisent systématiquement les groupes majoritaires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L'optimisation de la seule utilité renforce le biais majoritaire et les bulles de filtres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Les approches d'équité existantes agissent sur les entrées, les sorties, ou l'algorithme d'apprentissage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Le résumé de graphe a toujours optimisé la fidélité structurelle — jamais la préservation de l'équité</a:t>
            </a:r>
          </a:p>
          <a:p>
            <a:pPr>
              <a:spcAft>
                <a:spcPts val="1400"/>
              </a:spcAft>
              <a:defRPr sz="2000">
                <a:solidFill>
                  <a:srgbClr val="1A1A1A"/>
                </a:solidFill>
              </a:defRPr>
            </a:pPr>
            <a:r>
              <a:t>•  Question de recherche : comment construire un résumé de graphe qui réduit sa taille tout en bornant la dégradation de l'équité, de la diversité et de l'inclusion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Graphe et Métriques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Graphe biparti attribué et pondéré  G = (U ∪ I, E, w, s)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 = attribut sensible, côté utilisateur (MovieLens, libimseti) ou côté item (Rate My Professors, OpenAlex)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Écart d'équité  ΔE = | utilityF(R) − utilityM(R) |   →  cible ≈ 0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Diversité intra-liste  ILD(R) = dissimilarité cosinus moyenne entre paires du top-k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Inclusion_g(R) = part du top-k notée ≥ θ par le groupe g   →  cible ≥ αg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Approche — AURORA : Coarsening sous Contraintes EDI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= Attributed Unified gRaph cOarsening for equitable RecommendAtion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Fusion itérative et gloutonne de nœuds utilisateurs similaires en super-nœuds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Une fusion n'est acceptée que si elle respecte les trois contraintes EDI simultanément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ΔE(G′) ≤ ΔE(G) + εE     ILD(G′) ≥ ILD(G) − εD     inclusion_g(G′) ≥ inclusion_g(G) − εI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Budget de fusion = fraction fixe de |U| → même taux de compression quelle que soit l'échelle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Comparé à : Average Score, Borda, Borda pondéré, Condorcet, Fair Re-rank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Jeux de données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7</a:t>
            </a:r>
          </a:p>
        </p:txBody>
      </p:sp>
      <p:pic>
        <p:nvPicPr>
          <p:cNvPr id="10" name="Picture 9" descr="fig_datasets_overview_full_f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76741" y="1330000"/>
            <a:ext cx="7008038" cy="465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6020000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Figure extraite du mémoire — taille des corpus, déséquilibre de genre, répartition des notes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Validation — Démonstration en 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0000"/>
            <a:ext cx="10789920" cy="805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5 jeux de données, 4 domaines : MovieLens 100k et 1M, libimseti.cz, Rate My Professors, OpenAlex</a:t>
            </a:r>
            <a:endParaRPr lang="fr-FR" sz="1900" dirty="0">
              <a:solidFill>
                <a:srgbClr val="1A1A1A"/>
              </a:solidFill>
            </a:endParaRPr>
          </a:p>
          <a:p>
            <a:pPr>
              <a:spcAft>
                <a:spcPts val="1400"/>
              </a:spcAft>
            </a:pPr>
            <a:r>
              <a:rPr sz="2200">
                <a:solidFill>
                  <a:srgbClr val="1A1A1A"/>
                </a:solidFill>
              </a:rPr>
              <a:t>•  Bascule vers le tableau de bord interactif : sitaacisse-boop.github.io/EDI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Résultats Clés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Aucune méthode de référence ne satisfait les trois critères EDI simultanément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100k (k=20), AURORA bat Borda et Condorcet sur ΔE, ILD et inclusion à la fois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2ᵉ meilleure diversité (hors Average Score, dégénérée) et meilleure représentation sur Rate My Professors ; meilleur ΔE sur OpenAlex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Sur libimseti.cz : AURORA ne réduit pas ΔE, comme les méthodes de vote — Average Score et Fair Re-rank y parviennent ; limite structurelle du domaine (genre des deux côtés du graphe), pas un défaut de réglage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Sur MovieLens 1M (plus grand), Fair Re-rank domine sur les deux axes — le re-classement a posteriori dispose de plus de marge de manœuvre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Conclusion — Contribution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Intégrer l'EDI directement dans la structure du résumé produit des compromis équité-diversité plus robustes que la correction a posteriori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AURORA égale ou dépasse le re-classement sur les corpus plus petits ou côté item, mais pas sur les grandes bases ou les domaines à préférences réciproques</a:t>
            </a:r>
          </a:p>
          <a:p>
            <a:pPr>
              <a:spcAft>
                <a:spcPts val="1400"/>
              </a:spcAft>
              <a:defRPr sz="1900">
                <a:solidFill>
                  <a:srgbClr val="1A1A1A"/>
                </a:solidFill>
              </a:defRPr>
            </a:pPr>
            <a:r>
              <a:t>•  Perspectives :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Attributs sensibles multiples et simultanés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Graphes de préférences dynamiques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Calibration des tolérances ε par analyse de front de Pareto</a:t>
            </a:r>
          </a:p>
          <a:p>
            <a:pPr>
              <a:spcAft>
                <a:spcPts val="800"/>
              </a:spcAft>
              <a:defRPr sz="1600">
                <a:solidFill>
                  <a:srgbClr val="555555"/>
                </a:solidFill>
              </a:defRPr>
            </a:pPr>
            <a:r>
              <a:t>      ‒  Fusion guidée par détection de communautés et impact EDI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Exploring Social Choice Mechanisms for Recommendation Fairness in SCRUF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Aird et al. — Social Choice for Heterogeneous Fairness in Recommendation, SCRUF-D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Dong et al. — Fairness in Graph Mining: A Survey. IEEE TKDE (2023)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Harper &amp; Konstan — The MovieLens Datasets: History and Context. ACM TiiS (2015)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Kellerhals &amp; Peters — Proportional Fairness in Clustering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Leonhardt et al. — User Fairness in Recommender Systems (2018)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3003C"/>
                </a:solidFill>
                <a:latin typeface="Georgia"/>
              </a:defRPr>
            </a:pPr>
            <a:r>
              <a:t>Références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7160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Liu et al. — Graph Summarization Methods and Applications: A Survey (2018)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Ricci, Rokach &amp; Shapira — Recommender Systems Handbook (2011)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Roy, Schieber &amp; Talmon — Fairness in Preference Queries. VLDB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Shabani et al. — Graph Summarization with GNNs: A Survey (2024)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Yao &amp; Huang — New Fairness Metrics for Recommendation (2017)</a:t>
            </a:r>
          </a:p>
          <a:p>
            <a:pPr>
              <a:spcAft>
                <a:spcPts val="1400"/>
              </a:spcAft>
              <a:defRPr sz="1600">
                <a:solidFill>
                  <a:srgbClr val="1A1A1A"/>
                </a:solidFill>
              </a:defRPr>
            </a:pPr>
            <a:r>
              <a:t>•  Zhao et al. — Fairness and Diversity in Recommender Systems: A Survey (2024)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63003C"/>
                </a:solidFill>
              </a:defRPr>
            </a:pPr>
            <a:r>
              <a:t>Merci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555555"/>
                </a:solidFill>
              </a:defRPr>
            </a:pPr>
            <a:r>
              <a:t>Questions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63003C"/>
                </a:solidFill>
                <a:latin typeface="Georgia"/>
              </a:rPr>
              <a:t>Le graphe biparti G et son résumé G′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0000"/>
            <a:ext cx="5244960" cy="319507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760" y="1500000"/>
            <a:ext cx="5244960" cy="31950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original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0760" y="4745073"/>
            <a:ext cx="524496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555555"/>
                </a:solidFill>
              </a:rPr>
              <a:t>Graphe résumé G′ (fusion en super-nœuds)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45073"/>
            <a:ext cx="1078992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Captures du tableau de bord interactif — sitaacisse-boop.github.io/EDI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46520"/>
            <a:ext cx="11091672" cy="27940"/>
          </a:xfrm>
          <a:prstGeom prst="rect">
            <a:avLst/>
          </a:prstGeom>
          <a:solidFill>
            <a:srgbClr val="630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21440" y="6492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1020</Words>
  <Application>Microsoft Macintosh PowerPoint</Application>
  <PresentationFormat>Grand écran</PresentationFormat>
  <Paragraphs>90</Paragraphs>
  <Slides>13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Adji Cisse</cp:lastModifiedBy>
  <cp:revision>2</cp:revision>
  <dcterms:created xsi:type="dcterms:W3CDTF">2013-01-27T09:14:16Z</dcterms:created>
  <dcterms:modified xsi:type="dcterms:W3CDTF">2026-08-26T08:44:02Z</dcterms:modified>
  <cp:category/>
</cp:coreProperties>
</file>