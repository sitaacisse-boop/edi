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8" r:id="rId8"/>
    <p:sldId id="269" r:id="rId9"/>
    <p:sldId id="262" r:id="rId10"/>
    <p:sldId id="263" r:id="rId11"/>
    <p:sldId id="264" r:id="rId12"/>
    <p:sldId id="270"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51"/>
    <p:restoredTop sz="71440"/>
  </p:normalViewPr>
  <p:slideViewPr>
    <p:cSldViewPr snapToGrid="0" snapToObjects="1">
      <p:cViewPr varScale="1">
        <p:scale>
          <a:sx n="76" d="100"/>
          <a:sy n="76"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4E32DD-2BBF-E54C-AA90-1FF8494E5F3B}" type="datetimeFigureOut">
              <a:rPr lang="fr-FR" smtClean="0"/>
              <a:t>03/09/2026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9DD9CB-6CB9-4048-8E70-4A785DF481B5}" type="slidenum">
              <a:rPr lang="fr-FR" smtClean="0"/>
              <a:t>‹N°›</a:t>
            </a:fld>
            <a:endParaRPr lang="fr-FR"/>
          </a:p>
        </p:txBody>
      </p:sp>
    </p:spTree>
    <p:extLst>
      <p:ext uri="{BB962C8B-B14F-4D97-AF65-F5344CB8AC3E}">
        <p14:creationId xmlns:p14="http://schemas.microsoft.com/office/powerpoint/2010/main" val="378093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C9DD9CB-6CB9-4048-8E70-4A785DF481B5}" type="slidenum">
              <a:rPr lang="fr-FR" smtClean="0"/>
              <a:t>1</a:t>
            </a:fld>
            <a:endParaRPr lang="fr-FR"/>
          </a:p>
        </p:txBody>
      </p:sp>
    </p:spTree>
    <p:extLst>
      <p:ext uri="{BB962C8B-B14F-4D97-AF65-F5344CB8AC3E}">
        <p14:creationId xmlns:p14="http://schemas.microsoft.com/office/powerpoint/2010/main" val="2781993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SCRUF-D (Aird et al. 2023/2024) est le travail </a:t>
            </a:r>
            <a:r>
              <a:rPr dirty="0" err="1"/>
              <a:t>conceptuellement</a:t>
            </a:r>
            <a:r>
              <a:rPr dirty="0"/>
              <a:t> le plus </a:t>
            </a:r>
            <a:r>
              <a:rPr dirty="0" err="1"/>
              <a:t>proche</a:t>
            </a:r>
            <a:r>
              <a:rPr dirty="0"/>
              <a:t> : </a:t>
            </a:r>
            <a:r>
              <a:rPr dirty="0" err="1"/>
              <a:t>chaque</a:t>
            </a:r>
            <a:r>
              <a:rPr dirty="0"/>
              <a:t> preoccupation </a:t>
            </a:r>
            <a:r>
              <a:rPr dirty="0" err="1"/>
              <a:t>d'equite</a:t>
            </a:r>
            <a:r>
              <a:rPr dirty="0"/>
              <a:t> y est un agent qui vote (Borda/Copeland/Ranked Pairs) aux cotes du </a:t>
            </a:r>
            <a:r>
              <a:rPr dirty="0" err="1"/>
              <a:t>recommandeur</a:t>
            </a:r>
            <a:r>
              <a:rPr dirty="0"/>
              <a:t>, au moment de </a:t>
            </a:r>
            <a:r>
              <a:rPr dirty="0" err="1"/>
              <a:t>produire</a:t>
            </a:r>
            <a:r>
              <a:rPr dirty="0"/>
              <a:t> le </a:t>
            </a:r>
            <a:r>
              <a:rPr dirty="0" err="1"/>
              <a:t>classement</a:t>
            </a:r>
            <a:r>
              <a:rPr dirty="0"/>
              <a:t> final -- un post-</a:t>
            </a:r>
            <a:r>
              <a:rPr dirty="0" err="1"/>
              <a:t>traitement</a:t>
            </a:r>
            <a:r>
              <a:rPr dirty="0"/>
              <a:t>, </a:t>
            </a:r>
            <a:r>
              <a:rPr dirty="0" err="1"/>
              <a:t>alors</a:t>
            </a:r>
            <a:r>
              <a:rPr dirty="0"/>
              <a:t> </a:t>
            </a:r>
            <a:r>
              <a:rPr dirty="0" err="1"/>
              <a:t>qu'AURORA</a:t>
            </a:r>
            <a:r>
              <a:rPr dirty="0"/>
              <a:t> agit </a:t>
            </a:r>
            <a:r>
              <a:rPr dirty="0" err="1"/>
              <a:t>en</a:t>
            </a:r>
            <a:r>
              <a:rPr dirty="0"/>
              <a:t> </a:t>
            </a:r>
            <a:r>
              <a:rPr dirty="0" err="1"/>
              <a:t>amont</a:t>
            </a:r>
            <a:r>
              <a:rPr dirty="0"/>
              <a:t> sur la structure du </a:t>
            </a:r>
            <a:r>
              <a:rPr dirty="0" err="1"/>
              <a:t>graphe</a:t>
            </a:r>
            <a:r>
              <a:rPr dirty="0"/>
              <a:t> resume. Non </a:t>
            </a:r>
            <a:r>
              <a:rPr dirty="0" err="1"/>
              <a:t>implemente</a:t>
            </a:r>
            <a:r>
              <a:rPr dirty="0"/>
              <a:t> </a:t>
            </a:r>
            <a:r>
              <a:rPr dirty="0" err="1"/>
              <a:t>comme</a:t>
            </a:r>
            <a:r>
              <a:rPr dirty="0"/>
              <a:t> </a:t>
            </a:r>
            <a:r>
              <a:rPr dirty="0" err="1"/>
              <a:t>referentiel</a:t>
            </a:r>
            <a:r>
              <a:rPr dirty="0"/>
              <a:t> experimental car il </a:t>
            </a:r>
            <a:r>
              <a:rPr dirty="0" err="1"/>
              <a:t>exige</a:t>
            </a:r>
            <a:r>
              <a:rPr dirty="0"/>
              <a:t> </a:t>
            </a:r>
            <a:r>
              <a:rPr dirty="0" err="1"/>
              <a:t>une</a:t>
            </a:r>
            <a:r>
              <a:rPr dirty="0"/>
              <a:t> </a:t>
            </a:r>
            <a:r>
              <a:rPr dirty="0" err="1"/>
              <a:t>fonction</a:t>
            </a:r>
            <a:r>
              <a:rPr dirty="0"/>
              <a:t> </a:t>
            </a:r>
            <a:r>
              <a:rPr dirty="0" err="1"/>
              <a:t>d'utilite</a:t>
            </a:r>
            <a:r>
              <a:rPr dirty="0"/>
              <a:t> par preoccupation </a:t>
            </a:r>
            <a:r>
              <a:rPr dirty="0" err="1"/>
              <a:t>d'equite</a:t>
            </a:r>
            <a:r>
              <a:rPr dirty="0"/>
              <a:t> et un </a:t>
            </a:r>
            <a:r>
              <a:rPr dirty="0" err="1"/>
              <a:t>mecanisme</a:t>
            </a:r>
            <a:r>
              <a:rPr dirty="0"/>
              <a:t> de </a:t>
            </a:r>
            <a:r>
              <a:rPr dirty="0" err="1"/>
              <a:t>negociation</a:t>
            </a:r>
            <a:r>
              <a:rPr dirty="0"/>
              <a:t> inter-agents a </a:t>
            </a:r>
            <a:r>
              <a:rPr dirty="0" err="1"/>
              <a:t>concevoir</a:t>
            </a:r>
            <a:r>
              <a:rPr dirty="0"/>
              <a:t> et </a:t>
            </a:r>
            <a:r>
              <a:rPr dirty="0" err="1"/>
              <a:t>calibrer</a:t>
            </a:r>
            <a:r>
              <a:rPr dirty="0"/>
              <a:t> </a:t>
            </a:r>
            <a:r>
              <a:rPr dirty="0" err="1"/>
              <a:t>separement</a:t>
            </a:r>
            <a:r>
              <a:rPr dirty="0"/>
              <a:t> pour chacun des 4 corpus -- </a:t>
            </a:r>
            <a:r>
              <a:rPr dirty="0" err="1"/>
              <a:t>une</a:t>
            </a:r>
            <a:r>
              <a:rPr dirty="0"/>
              <a:t> contribution </a:t>
            </a:r>
            <a:r>
              <a:rPr dirty="0" err="1"/>
              <a:t>methodologique</a:t>
            </a:r>
            <a:r>
              <a:rPr dirty="0"/>
              <a:t> a part </a:t>
            </a:r>
            <a:r>
              <a:rPr dirty="0" err="1"/>
              <a:t>entiere</a:t>
            </a:r>
            <a:r>
              <a:rPr dirty="0"/>
              <a:t>, </a:t>
            </a:r>
            <a:r>
              <a:rPr dirty="0" err="1"/>
              <a:t>distincte</a:t>
            </a:r>
            <a:r>
              <a:rPr dirty="0"/>
              <a:t> du </a:t>
            </a:r>
            <a:r>
              <a:rPr dirty="0" err="1"/>
              <a:t>protocole</a:t>
            </a:r>
            <a:r>
              <a:rPr dirty="0"/>
              <a:t> a </a:t>
            </a:r>
            <a:r>
              <a:rPr dirty="0" err="1"/>
              <a:t>metriques</a:t>
            </a:r>
            <a:r>
              <a:rPr dirty="0"/>
              <a:t> EDI fixes </a:t>
            </a:r>
            <a:r>
              <a:rPr dirty="0" err="1"/>
              <a:t>utilise</a:t>
            </a:r>
            <a:r>
              <a:rPr dirty="0"/>
              <a:t> </a:t>
            </a:r>
            <a:r>
              <a:rPr dirty="0" err="1"/>
              <a:t>ici</a:t>
            </a:r>
            <a:r>
              <a:rPr dirty="0"/>
              <a:t>. Fair Re-rank (</a:t>
            </a:r>
            <a:r>
              <a:rPr dirty="0" err="1"/>
              <a:t>notre</a:t>
            </a:r>
            <a:r>
              <a:rPr dirty="0"/>
              <a:t> </a:t>
            </a:r>
            <a:r>
              <a:rPr dirty="0" err="1"/>
              <a:t>referentiel</a:t>
            </a:r>
            <a:r>
              <a:rPr dirty="0"/>
              <a:t> de post-</a:t>
            </a:r>
            <a:r>
              <a:rPr dirty="0" err="1"/>
              <a:t>traitement</a:t>
            </a:r>
            <a:r>
              <a:rPr dirty="0"/>
              <a:t>) </a:t>
            </a:r>
            <a:r>
              <a:rPr dirty="0" err="1"/>
              <a:t>reste</a:t>
            </a:r>
            <a:r>
              <a:rPr dirty="0"/>
              <a:t> comparable dans </a:t>
            </a:r>
            <a:r>
              <a:rPr dirty="0" err="1"/>
              <a:t>l'esprit</a:t>
            </a:r>
            <a:r>
              <a:rPr dirty="0"/>
              <a:t> sans </a:t>
            </a:r>
            <a:r>
              <a:rPr dirty="0" err="1"/>
              <a:t>requerir</a:t>
            </a:r>
            <a:r>
              <a:rPr dirty="0"/>
              <a:t> </a:t>
            </a:r>
            <a:r>
              <a:rPr dirty="0" err="1"/>
              <a:t>cette</a:t>
            </a:r>
            <a:r>
              <a:rPr dirty="0"/>
              <a:t> architecture multi-agents. Une implementation </a:t>
            </a:r>
            <a:r>
              <a:rPr dirty="0" err="1"/>
              <a:t>fidele</a:t>
            </a:r>
            <a:r>
              <a:rPr dirty="0"/>
              <a:t> de SCRUF-D est </a:t>
            </a:r>
            <a:r>
              <a:rPr dirty="0" err="1"/>
              <a:t>laissee</a:t>
            </a:r>
            <a:r>
              <a:rPr dirty="0"/>
              <a:t> </a:t>
            </a:r>
            <a:r>
              <a:rPr dirty="0" err="1"/>
              <a:t>comme</a:t>
            </a:r>
            <a:r>
              <a:rPr dirty="0"/>
              <a:t> </a:t>
            </a:r>
            <a:r>
              <a:rPr dirty="0" err="1"/>
              <a:t>referentiel</a:t>
            </a:r>
            <a:r>
              <a:rPr dirty="0"/>
              <a:t> </a:t>
            </a:r>
            <a:r>
              <a:rPr dirty="0" err="1"/>
              <a:t>prioritaire</a:t>
            </a:r>
            <a:r>
              <a:rPr dirty="0"/>
              <a:t> pour un travail </a:t>
            </a:r>
            <a:r>
              <a:rPr dirty="0" err="1"/>
              <a:t>futur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C9DD9CB-6CB9-4048-8E70-4A785DF481B5}" type="slidenum">
              <a:rPr lang="fr-FR" smtClean="0"/>
              <a:t>5</a:t>
            </a:fld>
            <a:endParaRPr lang="fr-FR"/>
          </a:p>
        </p:txBody>
      </p:sp>
    </p:spTree>
    <p:extLst>
      <p:ext uri="{BB962C8B-B14F-4D97-AF65-F5344CB8AC3E}">
        <p14:creationId xmlns:p14="http://schemas.microsoft.com/office/powerpoint/2010/main" val="3965112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a:t>
            </a:r>
            <a:r>
              <a:rPr dirty="0" err="1"/>
              <a:t>resultats</a:t>
            </a:r>
            <a:r>
              <a:rPr dirty="0"/>
              <a:t> </a:t>
            </a:r>
            <a:r>
              <a:rPr dirty="0" err="1"/>
              <a:t>MovieLens</a:t>
            </a:r>
            <a:r>
              <a:rPr dirty="0"/>
              <a:t> 100k a k=10 </a:t>
            </a:r>
            <a:r>
              <a:rPr dirty="0" err="1"/>
              <a:t>reposent</a:t>
            </a:r>
            <a:r>
              <a:rPr dirty="0"/>
              <a:t> sur un unique passage </a:t>
            </a:r>
            <a:r>
              <a:rPr dirty="0" err="1"/>
              <a:t>deterministe</a:t>
            </a:r>
            <a:r>
              <a:rPr dirty="0"/>
              <a:t> sur </a:t>
            </a:r>
            <a:r>
              <a:rPr dirty="0" err="1"/>
              <a:t>l'integralite</a:t>
            </a:r>
            <a:r>
              <a:rPr dirty="0"/>
              <a:t> du jeu de </a:t>
            </a:r>
            <a:r>
              <a:rPr dirty="0" err="1"/>
              <a:t>donnees</a:t>
            </a:r>
            <a:r>
              <a:rPr dirty="0"/>
              <a:t>. </a:t>
            </a:r>
            <a:r>
              <a:rPr dirty="0" err="1"/>
              <a:t>Verifie</a:t>
            </a:r>
            <a:r>
              <a:rPr dirty="0"/>
              <a:t> par sous-</a:t>
            </a:r>
            <a:r>
              <a:rPr dirty="0" err="1"/>
              <a:t>echantillonnage</a:t>
            </a:r>
            <a:r>
              <a:rPr dirty="0"/>
              <a:t> SANS remise (90% de |U|, 30 repetitions) : AURORA bat Borda et Condorcet sur delta-E dans 28/30 tirages et sur </a:t>
            </a:r>
            <a:r>
              <a:rPr dirty="0" err="1"/>
              <a:t>l'ILD</a:t>
            </a:r>
            <a:r>
              <a:rPr dirty="0"/>
              <a:t> dans 30/30 (Weighted Borda : 24/30 et 30/30) -- </a:t>
            </a:r>
            <a:r>
              <a:rPr dirty="0" err="1"/>
              <a:t>l'avantage</a:t>
            </a:r>
            <a:r>
              <a:rPr dirty="0"/>
              <a:t> sur les </a:t>
            </a:r>
            <a:r>
              <a:rPr dirty="0" err="1"/>
              <a:t>regles</a:t>
            </a:r>
            <a:r>
              <a:rPr dirty="0"/>
              <a:t> de vote </a:t>
            </a:r>
            <a:r>
              <a:rPr dirty="0" err="1"/>
              <a:t>classiques</a:t>
            </a:r>
            <a:r>
              <a:rPr dirty="0"/>
              <a:t> </a:t>
            </a:r>
            <a:r>
              <a:rPr dirty="0" err="1"/>
              <a:t>n'est</a:t>
            </a:r>
            <a:r>
              <a:rPr dirty="0"/>
              <a:t> pas un artefact du tirage unique </a:t>
            </a:r>
            <a:r>
              <a:rPr dirty="0" err="1"/>
              <a:t>rapporte</a:t>
            </a:r>
            <a:r>
              <a:rPr dirty="0"/>
              <a:t>. Fair Re-rank </a:t>
            </a:r>
            <a:r>
              <a:rPr dirty="0" err="1"/>
              <a:t>reste</a:t>
            </a:r>
            <a:r>
              <a:rPr dirty="0"/>
              <a:t> </a:t>
            </a:r>
            <a:r>
              <a:rPr dirty="0" err="1"/>
              <a:t>devant</a:t>
            </a:r>
            <a:r>
              <a:rPr dirty="0"/>
              <a:t> AURORA sur les deux </a:t>
            </a:r>
            <a:r>
              <a:rPr dirty="0" err="1"/>
              <a:t>metriques</a:t>
            </a:r>
            <a:r>
              <a:rPr dirty="0"/>
              <a:t> dans les 30/30 tirages -- </a:t>
            </a:r>
            <a:r>
              <a:rPr dirty="0" err="1"/>
              <a:t>confirme</a:t>
            </a:r>
            <a:r>
              <a:rPr dirty="0"/>
              <a:t> </a:t>
            </a:r>
            <a:r>
              <a:rPr dirty="0" err="1"/>
              <a:t>robuste</a:t>
            </a:r>
            <a:r>
              <a:rPr dirty="0"/>
              <a:t> </a:t>
            </a:r>
            <a:r>
              <a:rPr dirty="0" err="1"/>
              <a:t>aussi</a:t>
            </a:r>
            <a:r>
              <a:rPr dirty="0"/>
              <a:t>, dans les deux </a:t>
            </a:r>
            <a:r>
              <a:rPr dirty="0" err="1"/>
              <a:t>sens.</a:t>
            </a:r>
            <a:r>
              <a:rPr dirty="0"/>
              <a:t> (Un premier </a:t>
            </a:r>
            <a:r>
              <a:rPr dirty="0" err="1"/>
              <a:t>essai</a:t>
            </a:r>
            <a:r>
              <a:rPr dirty="0"/>
              <a:t> avec un bootstrap </a:t>
            </a:r>
            <a:r>
              <a:rPr dirty="0" err="1"/>
              <a:t>classique</a:t>
            </a:r>
            <a:r>
              <a:rPr dirty="0"/>
              <a:t> -- tirage AVEC remise -- </a:t>
            </a:r>
            <a:r>
              <a:rPr dirty="0" err="1"/>
              <a:t>donnait</a:t>
            </a:r>
            <a:r>
              <a:rPr dirty="0"/>
              <a:t> des </a:t>
            </a:r>
            <a:r>
              <a:rPr dirty="0" err="1"/>
              <a:t>resultats</a:t>
            </a:r>
            <a:r>
              <a:rPr dirty="0"/>
              <a:t> </a:t>
            </a:r>
            <a:r>
              <a:rPr dirty="0" err="1"/>
              <a:t>trompeurs</a:t>
            </a:r>
            <a:r>
              <a:rPr dirty="0"/>
              <a:t> : environ 63% des </a:t>
            </a:r>
            <a:r>
              <a:rPr dirty="0" err="1"/>
              <a:t>utilisateurs</a:t>
            </a:r>
            <a:r>
              <a:rPr dirty="0"/>
              <a:t> tires </a:t>
            </a:r>
            <a:r>
              <a:rPr dirty="0" err="1"/>
              <a:t>sont</a:t>
            </a:r>
            <a:r>
              <a:rPr dirty="0"/>
              <a:t> </a:t>
            </a:r>
            <a:r>
              <a:rPr dirty="0" err="1"/>
              <a:t>alors</a:t>
            </a:r>
            <a:r>
              <a:rPr dirty="0"/>
              <a:t> des </a:t>
            </a:r>
            <a:r>
              <a:rPr dirty="0" err="1"/>
              <a:t>doublons</a:t>
            </a:r>
            <a:r>
              <a:rPr dirty="0"/>
              <a:t> exacts, </a:t>
            </a:r>
            <a:r>
              <a:rPr dirty="0" err="1"/>
              <a:t>ce</a:t>
            </a:r>
            <a:r>
              <a:rPr dirty="0"/>
              <a:t> qui </a:t>
            </a:r>
            <a:r>
              <a:rPr dirty="0" err="1"/>
              <a:t>avantage</a:t>
            </a:r>
            <a:r>
              <a:rPr dirty="0"/>
              <a:t> </a:t>
            </a:r>
            <a:r>
              <a:rPr dirty="0" err="1"/>
              <a:t>artificiellement</a:t>
            </a:r>
            <a:r>
              <a:rPr dirty="0"/>
              <a:t> les fusions de quasi-</a:t>
            </a:r>
            <a:r>
              <a:rPr dirty="0" err="1"/>
              <a:t>identiques</a:t>
            </a:r>
            <a:r>
              <a:rPr dirty="0"/>
              <a:t> dans le coarsening. </a:t>
            </a:r>
            <a:r>
              <a:rPr dirty="0" err="1"/>
              <a:t>D'ou</a:t>
            </a:r>
            <a:r>
              <a:rPr dirty="0"/>
              <a:t> le choix du sans-remise pour un test </a:t>
            </a:r>
            <a:r>
              <a:rPr dirty="0" err="1"/>
              <a:t>methodologiquement</a:t>
            </a:r>
            <a:r>
              <a:rPr dirty="0"/>
              <a:t> correct.)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sitaacisse-boop.github.io/EDI/"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sitaacisse-boop.github.io/EDI/"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paris-saclay.png"/>
          <p:cNvPicPr>
            <a:picLocks noChangeAspect="1"/>
          </p:cNvPicPr>
          <p:nvPr/>
        </p:nvPicPr>
        <p:blipFill>
          <a:blip r:embed="rId3"/>
          <a:stretch>
            <a:fillRect/>
          </a:stretch>
        </p:blipFill>
        <p:spPr>
          <a:xfrm>
            <a:off x="4480560" y="640080"/>
            <a:ext cx="2023136" cy="914400"/>
          </a:xfrm>
          <a:prstGeom prst="rect">
            <a:avLst/>
          </a:prstGeom>
        </p:spPr>
      </p:pic>
      <p:sp>
        <p:nvSpPr>
          <p:cNvPr id="4" name="TextBox 3"/>
          <p:cNvSpPr txBox="1"/>
          <p:nvPr/>
        </p:nvSpPr>
        <p:spPr>
          <a:xfrm>
            <a:off x="914400" y="1920240"/>
            <a:ext cx="10332720" cy="1645920"/>
          </a:xfrm>
          <a:prstGeom prst="rect">
            <a:avLst/>
          </a:prstGeom>
          <a:noFill/>
        </p:spPr>
        <p:txBody>
          <a:bodyPr wrap="square">
            <a:spAutoFit/>
          </a:bodyPr>
          <a:lstStyle/>
          <a:p>
            <a:pPr algn="ctr">
              <a:defRPr sz="3000" b="1">
                <a:solidFill>
                  <a:srgbClr val="1A1A1A"/>
                </a:solidFill>
                <a:latin typeface="Georgia"/>
              </a:defRPr>
            </a:pPr>
            <a:r>
              <a:t>Agrégation des Préférences Utilisateur sous Contraintes d'Équité, de Diversité et d'Inclusion par Résumé de Graphe</a:t>
            </a:r>
          </a:p>
        </p:txBody>
      </p:sp>
      <p:sp>
        <p:nvSpPr>
          <p:cNvPr id="5" name="TextBox 4"/>
          <p:cNvSpPr txBox="1"/>
          <p:nvPr/>
        </p:nvSpPr>
        <p:spPr>
          <a:xfrm>
            <a:off x="914400" y="3749039"/>
            <a:ext cx="10332720" cy="548640"/>
          </a:xfrm>
          <a:prstGeom prst="rect">
            <a:avLst/>
          </a:prstGeom>
          <a:noFill/>
        </p:spPr>
        <p:txBody>
          <a:bodyPr wrap="none">
            <a:spAutoFit/>
          </a:bodyPr>
          <a:lstStyle/>
          <a:p>
            <a:pPr algn="ctr">
              <a:defRPr sz="1700">
                <a:solidFill>
                  <a:srgbClr val="63003C"/>
                </a:solidFill>
              </a:defRPr>
            </a:pPr>
            <a:r>
              <a:t>Mémoire de stage — Master 2 DataScale, Université Paris-Saclay (UVSQ)</a:t>
            </a:r>
          </a:p>
        </p:txBody>
      </p:sp>
      <p:sp>
        <p:nvSpPr>
          <p:cNvPr id="6" name="TextBox 5"/>
          <p:cNvSpPr txBox="1"/>
          <p:nvPr/>
        </p:nvSpPr>
        <p:spPr>
          <a:xfrm>
            <a:off x="896112" y="4663440"/>
            <a:ext cx="3474720" cy="822960"/>
          </a:xfrm>
          <a:prstGeom prst="rect">
            <a:avLst/>
          </a:prstGeom>
          <a:noFill/>
        </p:spPr>
        <p:txBody>
          <a:bodyPr wrap="square">
            <a:spAutoFit/>
          </a:bodyPr>
          <a:lstStyle/>
          <a:p>
            <a:pPr algn="ctr">
              <a:defRPr sz="1500" b="1">
                <a:solidFill>
                  <a:srgbClr val="63003C"/>
                </a:solidFill>
              </a:defRPr>
            </a:pPr>
            <a:r>
              <a:t>Auteure</a:t>
            </a:r>
          </a:p>
          <a:p>
            <a:pPr algn="ctr">
              <a:defRPr sz="1500">
                <a:solidFill>
                  <a:srgbClr val="1A1A1A"/>
                </a:solidFill>
              </a:defRPr>
            </a:pPr>
            <a:r>
              <a:t>Adji Marieme Sita Cissé</a:t>
            </a:r>
          </a:p>
        </p:txBody>
      </p:sp>
      <p:sp>
        <p:nvSpPr>
          <p:cNvPr id="7" name="TextBox 6"/>
          <p:cNvSpPr txBox="1"/>
          <p:nvPr/>
        </p:nvSpPr>
        <p:spPr>
          <a:xfrm>
            <a:off x="4462272" y="4663440"/>
            <a:ext cx="3474720" cy="822960"/>
          </a:xfrm>
          <a:prstGeom prst="rect">
            <a:avLst/>
          </a:prstGeom>
          <a:noFill/>
        </p:spPr>
        <p:txBody>
          <a:bodyPr wrap="square">
            <a:spAutoFit/>
          </a:bodyPr>
          <a:lstStyle/>
          <a:p>
            <a:pPr algn="ctr">
              <a:defRPr sz="1500" b="1">
                <a:solidFill>
                  <a:srgbClr val="63003C"/>
                </a:solidFill>
              </a:defRPr>
            </a:pPr>
            <a:r>
              <a:t>Encadrant</a:t>
            </a:r>
          </a:p>
          <a:p>
            <a:pPr algn="ctr">
              <a:defRPr sz="1500">
                <a:solidFill>
                  <a:srgbClr val="1A1A1A"/>
                </a:solidFill>
              </a:defRPr>
            </a:pPr>
            <a:r>
              <a:t>Prof. Malek Mouhoub</a:t>
            </a:r>
          </a:p>
        </p:txBody>
      </p:sp>
      <p:sp>
        <p:nvSpPr>
          <p:cNvPr id="8" name="TextBox 7"/>
          <p:cNvSpPr txBox="1"/>
          <p:nvPr/>
        </p:nvSpPr>
        <p:spPr>
          <a:xfrm>
            <a:off x="8028432" y="4663440"/>
            <a:ext cx="3474720" cy="822960"/>
          </a:xfrm>
          <a:prstGeom prst="rect">
            <a:avLst/>
          </a:prstGeom>
          <a:noFill/>
        </p:spPr>
        <p:txBody>
          <a:bodyPr wrap="square">
            <a:spAutoFit/>
          </a:bodyPr>
          <a:lstStyle/>
          <a:p>
            <a:pPr algn="ctr">
              <a:defRPr sz="1500" b="1">
                <a:solidFill>
                  <a:srgbClr val="63003C"/>
                </a:solidFill>
              </a:defRPr>
            </a:pPr>
            <a:r>
              <a:t>Tutrice pédagogique</a:t>
            </a:r>
          </a:p>
          <a:p>
            <a:pPr algn="ctr">
              <a:defRPr sz="1500">
                <a:solidFill>
                  <a:srgbClr val="1A1A1A"/>
                </a:solidFill>
              </a:defRPr>
            </a:pPr>
            <a:r>
              <a:t>Prof. Zoubida Kedad</a:t>
            </a:r>
          </a:p>
        </p:txBody>
      </p:sp>
      <p:sp>
        <p:nvSpPr>
          <p:cNvPr id="9" name="TextBox 8"/>
          <p:cNvSpPr txBox="1"/>
          <p:nvPr/>
        </p:nvSpPr>
        <p:spPr>
          <a:xfrm>
            <a:off x="914400" y="6035040"/>
            <a:ext cx="10332720" cy="457200"/>
          </a:xfrm>
          <a:prstGeom prst="rect">
            <a:avLst/>
          </a:prstGeom>
          <a:noFill/>
        </p:spPr>
        <p:txBody>
          <a:bodyPr wrap="none">
            <a:spAutoFit/>
          </a:bodyPr>
          <a:lstStyle/>
          <a:p>
            <a:pPr algn="ctr">
              <a:defRPr sz="1400">
                <a:solidFill>
                  <a:srgbClr val="555555"/>
                </a:solidFill>
              </a:defRPr>
            </a:pPr>
            <a:r>
              <a:t>Soutenance du 8 septembre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Plan</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2400">
                <a:solidFill>
                  <a:srgbClr val="1A1A1A"/>
                </a:solidFill>
              </a:defRPr>
            </a:pPr>
            <a:r>
              <a:t>1.  Contexte et objectif du stage</a:t>
            </a:r>
          </a:p>
          <a:p>
            <a:pPr>
              <a:spcAft>
                <a:spcPts val="1400"/>
              </a:spcAft>
              <a:defRPr sz="2400">
                <a:solidFill>
                  <a:srgbClr val="1A1A1A"/>
                </a:solidFill>
              </a:defRPr>
            </a:pPr>
            <a:r>
              <a:t>2.  État de l'art — la lacune de recherche</a:t>
            </a:r>
          </a:p>
          <a:p>
            <a:pPr>
              <a:spcAft>
                <a:spcPts val="1400"/>
              </a:spcAft>
              <a:defRPr sz="2400">
                <a:solidFill>
                  <a:srgbClr val="1A1A1A"/>
                </a:solidFill>
              </a:defRPr>
            </a:pPr>
            <a:r>
              <a:t>3.  Approche proposée — AURORA</a:t>
            </a:r>
          </a:p>
          <a:p>
            <a:pPr>
              <a:spcAft>
                <a:spcPts val="1400"/>
              </a:spcAft>
              <a:defRPr sz="2400">
                <a:solidFill>
                  <a:srgbClr val="1A1A1A"/>
                </a:solidFill>
              </a:defRPr>
            </a:pPr>
            <a:r>
              <a:t>4.  Jeux de données, graphe biparti et démonstration en direct</a:t>
            </a:r>
          </a:p>
          <a:p>
            <a:pPr>
              <a:spcAft>
                <a:spcPts val="1400"/>
              </a:spcAft>
              <a:defRPr sz="2400">
                <a:solidFill>
                  <a:srgbClr val="1A1A1A"/>
                </a:solidFill>
              </a:defRPr>
            </a:pPr>
            <a:r>
              <a:t>5.  Conclusion et perspectives</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1. Contexte et Objectif du Stage</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2000">
                <a:solidFill>
                  <a:srgbClr val="1A1A1A"/>
                </a:solidFill>
              </a:defRPr>
            </a:pPr>
            <a:r>
              <a:t>•  Stage de recherche au Department of Computer Science, University of Regina (Saskatchewan, Canada)</a:t>
            </a:r>
          </a:p>
          <a:p>
            <a:pPr>
              <a:spcAft>
                <a:spcPts val="1400"/>
              </a:spcAft>
              <a:defRPr sz="2000">
                <a:solidFill>
                  <a:srgbClr val="1A1A1A"/>
                </a:solidFill>
              </a:defRPr>
            </a:pPr>
            <a:r>
              <a:t>•  Encadré par le Prof. Malek Mouhoub, responsable du Constraint Processing Lab</a:t>
            </a:r>
          </a:p>
          <a:p>
            <a:pPr>
              <a:spcAft>
                <a:spcPts val="1400"/>
              </a:spcAft>
              <a:defRPr sz="2000">
                <a:solidFill>
                  <a:srgbClr val="1A1A1A"/>
                </a:solidFill>
              </a:defRPr>
            </a:pPr>
            <a:r>
              <a:t>•  Sujet proposé par le Prof. Malek Mouhoub, développé de façon autonome · mobilité financée par la bourse Data IA</a:t>
            </a:r>
          </a:p>
          <a:p>
            <a:pPr>
              <a:spcAft>
                <a:spcPts val="1400"/>
              </a:spcAft>
              <a:defRPr sz="2000">
                <a:solidFill>
                  <a:srgbClr val="1A1A1A"/>
                </a:solidFill>
              </a:defRPr>
            </a:pPr>
            <a:r>
              <a:t>•  Objectif : représenter les préférences comme un graphe biparti attribué, et concevoir une méthode de résumé de graphe qui préserve explicitement l'équité (traitement juste des groupes), la diversité (variété des recommandations) et l'inclusion (représentation proportionnelle des minorités) — ensemble, l'EDI</a:t>
            </a:r>
          </a:p>
          <a:p>
            <a:pPr>
              <a:spcAft>
                <a:spcPts val="1400"/>
              </a:spcAft>
              <a:defRPr sz="2000">
                <a:solidFill>
                  <a:srgbClr val="1A1A1A"/>
                </a:solidFill>
              </a:defRPr>
            </a:pPr>
            <a:r>
              <a:t>•  Comparaison à 5 règles d'agrégation classiques, sur plusieurs domaines et configurations de biais</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2. Problématique</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2000">
                <a:solidFill>
                  <a:srgbClr val="1A1A1A"/>
                </a:solidFill>
              </a:defRPr>
            </a:pPr>
            <a:r>
              <a:t>•  Les règles d'agrégation classiques (Borda, Condorcet) favorisent systématiquement les groupes majoritaires</a:t>
            </a:r>
          </a:p>
          <a:p>
            <a:pPr>
              <a:spcAft>
                <a:spcPts val="1400"/>
              </a:spcAft>
              <a:defRPr sz="2000">
                <a:solidFill>
                  <a:srgbClr val="1A1A1A"/>
                </a:solidFill>
              </a:defRPr>
            </a:pPr>
            <a:r>
              <a:t>•  L'optimisation de la seule utilité renforce le biais majoritaire et les bulles de filtres</a:t>
            </a:r>
          </a:p>
          <a:p>
            <a:pPr>
              <a:spcAft>
                <a:spcPts val="1400"/>
              </a:spcAft>
              <a:defRPr sz="2000">
                <a:solidFill>
                  <a:srgbClr val="1A1A1A"/>
                </a:solidFill>
              </a:defRPr>
            </a:pPr>
            <a:r>
              <a:t>•  Les approches d'équité existantes agissent sur les entrées, les sorties, ou l'algorithme d'apprentissage</a:t>
            </a:r>
          </a:p>
          <a:p>
            <a:pPr>
              <a:spcAft>
                <a:spcPts val="1400"/>
              </a:spcAft>
              <a:defRPr sz="2000">
                <a:solidFill>
                  <a:srgbClr val="1A1A1A"/>
                </a:solidFill>
              </a:defRPr>
            </a:pPr>
            <a:r>
              <a:t>•  Le résumé de graphe a toujours optimisé la fidélité structurelle — jamais la préservation de l'EDI</a:t>
            </a:r>
          </a:p>
          <a:p>
            <a:pPr>
              <a:spcAft>
                <a:spcPts val="1400"/>
              </a:spcAft>
              <a:defRPr sz="2000">
                <a:solidFill>
                  <a:srgbClr val="1A1A1A"/>
                </a:solidFill>
              </a:defRPr>
            </a:pPr>
            <a:r>
              <a:t>•  Question de recherche : comment construire un résumé de graphe qui réduit sa taille tout en bornant la dégradation de l'équité, de la diversité et de l'inclusion ?</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3. Approche — Graphe et Métriques EDI</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1900">
                <a:solidFill>
                  <a:srgbClr val="1A1A1A"/>
                </a:solidFill>
              </a:defRPr>
            </a:pPr>
            <a:r>
              <a:t>•  Graphe biparti attribué et pondéré  G = (U ∪ I, E, w, s)</a:t>
            </a:r>
          </a:p>
          <a:p>
            <a:pPr>
              <a:spcAft>
                <a:spcPts val="1400"/>
              </a:spcAft>
              <a:defRPr sz="1900">
                <a:solidFill>
                  <a:srgbClr val="1A1A1A"/>
                </a:solidFill>
              </a:defRPr>
            </a:pPr>
            <a:r>
              <a:t>•  s = attribut sensible, côté utilisateur (MovieLens, libimseti) ou côté item (Rate My Professors, OpenAlex)</a:t>
            </a:r>
          </a:p>
          <a:p>
            <a:pPr>
              <a:spcAft>
                <a:spcPts val="1400"/>
              </a:spcAft>
              <a:defRPr sz="1900">
                <a:solidFill>
                  <a:srgbClr val="1A1A1A"/>
                </a:solidFill>
              </a:defRPr>
            </a:pPr>
            <a:r>
              <a:t>•  Écart d'équité  ΔE = | utilityF(R) − utilityM(R) |   →  cible ≈ 0</a:t>
            </a:r>
          </a:p>
          <a:p>
            <a:pPr>
              <a:spcAft>
                <a:spcPts val="1400"/>
              </a:spcAft>
              <a:defRPr sz="1900">
                <a:solidFill>
                  <a:srgbClr val="1A1A1A"/>
                </a:solidFill>
              </a:defRPr>
            </a:pPr>
            <a:r>
              <a:t>•  Diversité intra-liste  ILD(R) = dissimilarité cosinus moyenne entre paires du top-k</a:t>
            </a:r>
          </a:p>
          <a:p>
            <a:pPr>
              <a:spcAft>
                <a:spcPts val="1400"/>
              </a:spcAft>
              <a:defRPr sz="1900">
                <a:solidFill>
                  <a:srgbClr val="1A1A1A"/>
                </a:solidFill>
              </a:defRPr>
            </a:pPr>
            <a:r>
              <a:t>•  Inclusion_g(R) = part du top-k notée ≥ θ par le groupe g   →  cible ≥ αg</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5</a:t>
            </a:r>
          </a:p>
        </p:txBody>
      </p:sp>
      <p:pic>
        <p:nvPicPr>
          <p:cNvPr id="6" name="Picture 5" descr="image.png"/>
          <p:cNvPicPr>
            <a:picLocks noChangeAspect="1"/>
          </p:cNvPicPr>
          <p:nvPr/>
        </p:nvPicPr>
        <p:blipFill>
          <a:blip r:embed="rId3"/>
          <a:stretch>
            <a:fillRect/>
          </a:stretch>
        </p:blipFill>
        <p:spPr>
          <a:xfrm>
            <a:off x="3219450" y="3919220"/>
            <a:ext cx="5753100" cy="2298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rPr dirty="0"/>
              <a:t>3. </a:t>
            </a:r>
            <a:r>
              <a:rPr dirty="0" err="1"/>
              <a:t>Approche</a:t>
            </a:r>
            <a:r>
              <a:rPr dirty="0"/>
              <a:t> — AURORA : Coarsening sous </a:t>
            </a:r>
            <a:r>
              <a:rPr dirty="0" err="1"/>
              <a:t>Contraintes</a:t>
            </a:r>
            <a:r>
              <a:rPr dirty="0"/>
              <a:t> EDI</a:t>
            </a:r>
          </a:p>
        </p:txBody>
      </p:sp>
      <p:sp>
        <p:nvSpPr>
          <p:cNvPr id="3" name="TextBox 2"/>
          <p:cNvSpPr txBox="1"/>
          <p:nvPr/>
        </p:nvSpPr>
        <p:spPr>
          <a:xfrm>
            <a:off x="548640" y="1371600"/>
            <a:ext cx="11064240" cy="3000000"/>
          </a:xfrm>
          <a:prstGeom prst="rect">
            <a:avLst/>
          </a:prstGeom>
          <a:noFill/>
        </p:spPr>
        <p:txBody>
          <a:bodyPr wrap="square">
            <a:spAutoFit/>
          </a:bodyPr>
          <a:lstStyle/>
          <a:p>
            <a:pPr>
              <a:spcAft>
                <a:spcPts val="1400"/>
              </a:spcAft>
              <a:defRPr sz="1900">
                <a:solidFill>
                  <a:srgbClr val="1A1A1A"/>
                </a:solidFill>
              </a:defRPr>
            </a:pPr>
            <a:r>
              <a:rPr sz="1600" dirty="0"/>
              <a:t>•  AURORA = Attributed Unified </a:t>
            </a:r>
            <a:r>
              <a:rPr sz="1600" dirty="0" err="1"/>
              <a:t>gRaph</a:t>
            </a:r>
            <a:r>
              <a:rPr sz="1600" dirty="0"/>
              <a:t> </a:t>
            </a:r>
            <a:r>
              <a:rPr sz="1600" dirty="0" err="1"/>
              <a:t>cOarsening</a:t>
            </a:r>
            <a:r>
              <a:rPr sz="1600" dirty="0"/>
              <a:t> for equitable </a:t>
            </a:r>
            <a:r>
              <a:rPr sz="1600" dirty="0" err="1"/>
              <a:t>RecommendAtion</a:t>
            </a:r>
            <a:endParaRPr sz="2000" dirty="0"/>
          </a:p>
          <a:p>
            <a:pPr>
              <a:spcAft>
                <a:spcPts val="1400"/>
              </a:spcAft>
              <a:defRPr sz="1900">
                <a:solidFill>
                  <a:srgbClr val="1A1A1A"/>
                </a:solidFill>
              </a:defRPr>
            </a:pPr>
            <a:r>
              <a:rPr sz="1600" dirty="0"/>
              <a:t>•  Fusion </a:t>
            </a:r>
            <a:r>
              <a:rPr sz="1600" dirty="0" err="1"/>
              <a:t>itérative</a:t>
            </a:r>
            <a:r>
              <a:rPr sz="1600" dirty="0"/>
              <a:t> et </a:t>
            </a:r>
            <a:r>
              <a:rPr sz="1600" dirty="0" err="1"/>
              <a:t>gloutonne</a:t>
            </a:r>
            <a:r>
              <a:rPr sz="1600" dirty="0"/>
              <a:t> de </a:t>
            </a:r>
            <a:r>
              <a:rPr sz="1600" dirty="0" err="1"/>
              <a:t>nœuds</a:t>
            </a:r>
            <a:r>
              <a:rPr sz="1600" dirty="0"/>
              <a:t> </a:t>
            </a:r>
            <a:r>
              <a:rPr sz="1600" dirty="0" err="1"/>
              <a:t>utilisateurs</a:t>
            </a:r>
            <a:r>
              <a:rPr sz="1600" dirty="0"/>
              <a:t> </a:t>
            </a:r>
            <a:r>
              <a:rPr sz="1600" dirty="0" err="1"/>
              <a:t>similaires</a:t>
            </a:r>
            <a:r>
              <a:rPr sz="1600" dirty="0"/>
              <a:t> </a:t>
            </a:r>
            <a:r>
              <a:rPr sz="1600" dirty="0" err="1"/>
              <a:t>en</a:t>
            </a:r>
            <a:r>
              <a:rPr sz="1600" dirty="0"/>
              <a:t> super-</a:t>
            </a:r>
            <a:r>
              <a:rPr sz="1600" dirty="0" err="1"/>
              <a:t>nœuds</a:t>
            </a:r>
            <a:endParaRPr sz="2000" dirty="0"/>
          </a:p>
          <a:p>
            <a:pPr>
              <a:spcAft>
                <a:spcPts val="1400"/>
              </a:spcAft>
              <a:defRPr sz="1900">
                <a:solidFill>
                  <a:srgbClr val="1A1A1A"/>
                </a:solidFill>
              </a:defRPr>
            </a:pPr>
            <a:r>
              <a:rPr sz="1600" dirty="0"/>
              <a:t>•  Une fusion </a:t>
            </a:r>
            <a:r>
              <a:rPr sz="1600" dirty="0" err="1"/>
              <a:t>n'est</a:t>
            </a:r>
            <a:r>
              <a:rPr sz="1600" dirty="0"/>
              <a:t> </a:t>
            </a:r>
            <a:r>
              <a:rPr sz="1600" dirty="0" err="1"/>
              <a:t>acceptée</a:t>
            </a:r>
            <a:r>
              <a:rPr sz="1600" dirty="0"/>
              <a:t> </a:t>
            </a:r>
            <a:r>
              <a:rPr sz="1600" dirty="0" err="1"/>
              <a:t>que</a:t>
            </a:r>
            <a:r>
              <a:rPr sz="1600" dirty="0"/>
              <a:t> </a:t>
            </a:r>
            <a:r>
              <a:rPr sz="1600" dirty="0" err="1"/>
              <a:t>si</a:t>
            </a:r>
            <a:r>
              <a:rPr sz="1600" dirty="0"/>
              <a:t> </a:t>
            </a:r>
            <a:r>
              <a:rPr sz="1600" dirty="0" err="1"/>
              <a:t>elle</a:t>
            </a:r>
            <a:r>
              <a:rPr sz="1600" dirty="0"/>
              <a:t> </a:t>
            </a:r>
            <a:r>
              <a:rPr sz="1600" dirty="0" err="1"/>
              <a:t>respecte</a:t>
            </a:r>
            <a:r>
              <a:rPr sz="1600" dirty="0"/>
              <a:t> les trois </a:t>
            </a:r>
            <a:r>
              <a:rPr sz="1600" dirty="0" err="1"/>
              <a:t>contraintes</a:t>
            </a:r>
            <a:r>
              <a:rPr sz="1600" dirty="0"/>
              <a:t> EDI </a:t>
            </a:r>
            <a:r>
              <a:rPr sz="1600" dirty="0" err="1"/>
              <a:t>simultanément</a:t>
            </a:r>
            <a:r>
              <a:rPr sz="1600" dirty="0"/>
              <a:t> :</a:t>
            </a:r>
          </a:p>
          <a:p>
            <a:pPr>
              <a:spcAft>
                <a:spcPts val="800"/>
              </a:spcAft>
              <a:defRPr sz="1600">
                <a:solidFill>
                  <a:srgbClr val="555555"/>
                </a:solidFill>
              </a:defRPr>
            </a:pPr>
            <a:r>
              <a:rPr sz="1400" dirty="0"/>
              <a:t>      ‒  ΔE(G′) ≤ ΔE(G) + </a:t>
            </a:r>
            <a:r>
              <a:rPr sz="1400" dirty="0" err="1"/>
              <a:t>εE</a:t>
            </a:r>
            <a:r>
              <a:rPr sz="1400" dirty="0"/>
              <a:t>     ILD(G′) ≥ ILD(G) − </a:t>
            </a:r>
            <a:r>
              <a:rPr sz="1400" dirty="0" err="1"/>
              <a:t>εD</a:t>
            </a:r>
            <a:r>
              <a:rPr sz="1400" dirty="0"/>
              <a:t>     </a:t>
            </a:r>
            <a:r>
              <a:rPr sz="1400" dirty="0" err="1"/>
              <a:t>inclusion_g</a:t>
            </a:r>
            <a:r>
              <a:rPr sz="1400" dirty="0"/>
              <a:t>(G′) ≥ </a:t>
            </a:r>
            <a:r>
              <a:rPr sz="1400" dirty="0" err="1"/>
              <a:t>inclusion_g</a:t>
            </a:r>
            <a:r>
              <a:rPr sz="1400" dirty="0"/>
              <a:t>(G) − </a:t>
            </a:r>
            <a:r>
              <a:rPr sz="1400" dirty="0" err="1"/>
              <a:t>εI</a:t>
            </a:r>
            <a:endParaRPr sz="1600" dirty="0"/>
          </a:p>
          <a:p>
            <a:pPr>
              <a:spcAft>
                <a:spcPts val="1400"/>
              </a:spcAft>
              <a:defRPr sz="1900">
                <a:solidFill>
                  <a:srgbClr val="1A1A1A"/>
                </a:solidFill>
              </a:defRPr>
            </a:pPr>
            <a:r>
              <a:rPr sz="1600" dirty="0"/>
              <a:t>•  Objectif : </a:t>
            </a:r>
            <a:r>
              <a:rPr sz="1600" dirty="0" err="1"/>
              <a:t>parmi</a:t>
            </a:r>
            <a:r>
              <a:rPr sz="1600" dirty="0"/>
              <a:t> les fusions </a:t>
            </a:r>
            <a:r>
              <a:rPr sz="1600" dirty="0" err="1"/>
              <a:t>respectant</a:t>
            </a:r>
            <a:r>
              <a:rPr sz="1600" dirty="0"/>
              <a:t> </a:t>
            </a:r>
            <a:r>
              <a:rPr sz="1600" dirty="0" err="1"/>
              <a:t>ces</a:t>
            </a:r>
            <a:r>
              <a:rPr sz="1600" dirty="0"/>
              <a:t> </a:t>
            </a:r>
            <a:r>
              <a:rPr sz="1600" dirty="0" err="1"/>
              <a:t>contraintes</a:t>
            </a:r>
            <a:r>
              <a:rPr sz="1600" dirty="0"/>
              <a:t>, </a:t>
            </a:r>
            <a:r>
              <a:rPr sz="1600" dirty="0" err="1"/>
              <a:t>celle</a:t>
            </a:r>
            <a:r>
              <a:rPr sz="1600" dirty="0"/>
              <a:t> </a:t>
            </a:r>
            <a:r>
              <a:rPr sz="1600" dirty="0" err="1"/>
              <a:t>retenue</a:t>
            </a:r>
            <a:r>
              <a:rPr sz="1600" dirty="0"/>
              <a:t> </a:t>
            </a:r>
            <a:r>
              <a:rPr sz="1600" dirty="0" err="1"/>
              <a:t>minimise</a:t>
            </a:r>
            <a:r>
              <a:rPr sz="1600" dirty="0"/>
              <a:t> la </a:t>
            </a:r>
            <a:r>
              <a:rPr sz="1600" dirty="0" err="1"/>
              <a:t>perte</a:t>
            </a:r>
            <a:r>
              <a:rPr sz="1600" dirty="0"/>
              <a:t> </a:t>
            </a:r>
            <a:r>
              <a:rPr sz="1600" dirty="0" err="1"/>
              <a:t>structurelle</a:t>
            </a:r>
            <a:r>
              <a:rPr sz="1600" dirty="0"/>
              <a:t> L(G,G') (</a:t>
            </a:r>
            <a:r>
              <a:rPr sz="1600" dirty="0" err="1"/>
              <a:t>écart</a:t>
            </a:r>
            <a:r>
              <a:rPr sz="1600" dirty="0"/>
              <a:t> entre </a:t>
            </a:r>
            <a:r>
              <a:rPr sz="1600" dirty="0" err="1"/>
              <a:t>poids</a:t>
            </a:r>
            <a:r>
              <a:rPr sz="1600" dirty="0"/>
              <a:t> </a:t>
            </a:r>
            <a:r>
              <a:rPr sz="1600" dirty="0" err="1"/>
              <a:t>d'arêtes</a:t>
            </a:r>
            <a:r>
              <a:rPr sz="1600" dirty="0"/>
              <a:t> </a:t>
            </a:r>
            <a:r>
              <a:rPr sz="1600" dirty="0" err="1"/>
              <a:t>originaux</a:t>
            </a:r>
            <a:r>
              <a:rPr sz="1600" dirty="0"/>
              <a:t> et </a:t>
            </a:r>
            <a:r>
              <a:rPr sz="1600" dirty="0" err="1"/>
              <a:t>reconstruits</a:t>
            </a:r>
            <a:r>
              <a:rPr sz="1600" dirty="0"/>
              <a:t>)</a:t>
            </a:r>
          </a:p>
          <a:p>
            <a:pPr>
              <a:spcAft>
                <a:spcPts val="1400"/>
              </a:spcAft>
              <a:defRPr sz="1900">
                <a:solidFill>
                  <a:srgbClr val="1A1A1A"/>
                </a:solidFill>
              </a:defRPr>
            </a:pPr>
            <a:r>
              <a:rPr sz="1600" dirty="0"/>
              <a:t>•  Budget de fusion = fraction fixe de |U| → </a:t>
            </a:r>
            <a:r>
              <a:rPr sz="1600" dirty="0" err="1"/>
              <a:t>même</a:t>
            </a:r>
            <a:r>
              <a:rPr sz="1600" dirty="0"/>
              <a:t> </a:t>
            </a:r>
            <a:r>
              <a:rPr sz="1600" dirty="0" err="1"/>
              <a:t>taux</a:t>
            </a:r>
            <a:r>
              <a:rPr sz="1600" dirty="0"/>
              <a:t> de compression quelle </a:t>
            </a:r>
            <a:r>
              <a:rPr sz="1600" dirty="0" err="1"/>
              <a:t>que</a:t>
            </a:r>
            <a:r>
              <a:rPr sz="1600" dirty="0"/>
              <a:t> soit </a:t>
            </a:r>
            <a:r>
              <a:rPr sz="1600" dirty="0" err="1"/>
              <a:t>l'échelle</a:t>
            </a:r>
            <a:endParaRPr sz="2000" dirty="0"/>
          </a:p>
          <a:p>
            <a:pPr>
              <a:spcAft>
                <a:spcPts val="1400"/>
              </a:spcAft>
              <a:defRPr sz="1900">
                <a:solidFill>
                  <a:srgbClr val="1A1A1A"/>
                </a:solidFill>
              </a:defRPr>
            </a:pPr>
            <a:r>
              <a:rPr sz="1600" dirty="0"/>
              <a:t>•  </a:t>
            </a:r>
            <a:r>
              <a:rPr sz="1600" dirty="0" err="1"/>
              <a:t>Comparé</a:t>
            </a:r>
            <a:r>
              <a:rPr sz="1600" dirty="0"/>
              <a:t> à : Average Score, Borda, Borda </a:t>
            </a:r>
            <a:r>
              <a:rPr sz="1600" dirty="0" err="1"/>
              <a:t>pondéré</a:t>
            </a:r>
            <a:r>
              <a:rPr sz="1600" dirty="0"/>
              <a:t>, Condorcet, Fair Re-rank</a:t>
            </a:r>
          </a:p>
        </p:txBody>
      </p:sp>
      <p:sp>
        <p:nvSpPr>
          <p:cNvPr id="4" name="Rectangle 3"/>
          <p:cNvSpPr/>
          <p:nvPr/>
        </p:nvSpPr>
        <p:spPr>
          <a:xfrm>
            <a:off x="429768" y="680720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6</a:t>
            </a:r>
          </a:p>
        </p:txBody>
      </p:sp>
      <p:pic>
        <p:nvPicPr>
          <p:cNvPr id="6" name="Picture 5" descr="g_gprime.png"/>
          <p:cNvPicPr>
            <a:picLocks noChangeAspect="1"/>
          </p:cNvPicPr>
          <p:nvPr/>
        </p:nvPicPr>
        <p:blipFill>
          <a:blip r:embed="rId2"/>
          <a:stretch>
            <a:fillRect/>
          </a:stretch>
        </p:blipFill>
        <p:spPr>
          <a:xfrm>
            <a:off x="2989558" y="4700000"/>
            <a:ext cx="6212883" cy="2007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63003C"/>
                </a:solidFill>
                <a:latin typeface="Georgia"/>
              </a:rPr>
              <a:t>4. Jeux de données</a:t>
            </a:r>
          </a:p>
        </p:txBody>
      </p:sp>
      <p:sp>
        <p:nvSpPr>
          <p:cNvPr id="8" name="Rectangle 7"/>
          <p:cNvSpPr/>
          <p:nvPr/>
        </p:nvSpPr>
        <p:spPr>
          <a:xfrm>
            <a:off x="548640" y="6446520"/>
            <a:ext cx="11091672" cy="27940"/>
          </a:xfrm>
          <a:prstGeom prst="rect">
            <a:avLst/>
          </a:prstGeom>
          <a:solidFill>
            <a:srgbClr val="630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521440" y="6492240"/>
            <a:ext cx="548640" cy="320040"/>
          </a:xfrm>
          <a:prstGeom prst="rect">
            <a:avLst/>
          </a:prstGeom>
          <a:noFill/>
        </p:spPr>
        <p:txBody>
          <a:bodyPr wrap="none">
            <a:spAutoFit/>
          </a:bodyPr>
          <a:lstStyle/>
          <a:p>
            <a:pPr algn="r"/>
            <a:r>
              <a:rPr sz="1100">
                <a:solidFill>
                  <a:srgbClr val="555555"/>
                </a:solidFill>
              </a:rPr>
              <a:t>7</a:t>
            </a:r>
          </a:p>
        </p:txBody>
      </p:sp>
      <p:pic>
        <p:nvPicPr>
          <p:cNvPr id="10" name="Picture 9" descr="fig_datasets_overview_full_fr.png"/>
          <p:cNvPicPr>
            <a:picLocks noChangeAspect="1"/>
          </p:cNvPicPr>
          <p:nvPr/>
        </p:nvPicPr>
        <p:blipFill>
          <a:blip r:embed="rId2"/>
          <a:stretch>
            <a:fillRect/>
          </a:stretch>
        </p:blipFill>
        <p:spPr>
          <a:xfrm>
            <a:off x="685800" y="1500000"/>
            <a:ext cx="6200000" cy="4113847"/>
          </a:xfrm>
          <a:prstGeom prst="rect">
            <a:avLst/>
          </a:prstGeom>
        </p:spPr>
      </p:pic>
      <p:sp>
        <p:nvSpPr>
          <p:cNvPr id="11" name="TextBox 10"/>
          <p:cNvSpPr txBox="1"/>
          <p:nvPr/>
        </p:nvSpPr>
        <p:spPr>
          <a:xfrm>
            <a:off x="685800" y="5673847"/>
            <a:ext cx="6200000" cy="240000"/>
          </a:xfrm>
          <a:prstGeom prst="rect">
            <a:avLst/>
          </a:prstGeom>
          <a:noFill/>
        </p:spPr>
        <p:txBody>
          <a:bodyPr wrap="square">
            <a:spAutoFit/>
          </a:bodyPr>
          <a:lstStyle/>
          <a:p>
            <a:pPr algn="ctr"/>
            <a:r>
              <a:rPr sz="1000" b="0" i="1">
                <a:solidFill>
                  <a:srgbClr val="555555"/>
                </a:solidFill>
              </a:rPr>
              <a:t>Figure extraite du mémoire — taille des corpus, déséquilibre de genre, répartition des notes</a:t>
            </a:r>
          </a:p>
        </p:txBody>
      </p:sp>
      <p:sp>
        <p:nvSpPr>
          <p:cNvPr id="12" name="TextBox 11"/>
          <p:cNvSpPr txBox="1"/>
          <p:nvPr/>
        </p:nvSpPr>
        <p:spPr>
          <a:xfrm>
            <a:off x="7135800" y="1500000"/>
            <a:ext cx="4339920" cy="4413847"/>
          </a:xfrm>
          <a:prstGeom prst="rect">
            <a:avLst/>
          </a:prstGeom>
          <a:noFill/>
        </p:spPr>
        <p:txBody>
          <a:bodyPr wrap="square">
            <a:spAutoFit/>
          </a:bodyPr>
          <a:lstStyle/>
          <a:p>
            <a:pPr>
              <a:spcAft>
                <a:spcPts val="1102"/>
              </a:spcAft>
            </a:pPr>
            <a:r>
              <a:rPr sz="1700" b="1" i="0">
                <a:solidFill>
                  <a:srgbClr val="63003C"/>
                </a:solidFill>
                <a:latin typeface="Georgia"/>
              </a:rPr>
              <a:t>Exemple des pays où j'ai vécu</a:t>
            </a:r>
          </a:p>
          <a:p>
            <a:pPr>
              <a:spcAft>
                <a:spcPts val="1417"/>
              </a:spcAft>
            </a:pPr>
            <a:r>
              <a:rPr sz="1200" b="0" i="1">
                <a:solidFill>
                  <a:srgbClr val="555555"/>
                </a:solidFill>
              </a:rPr>
              <a:t>Le déséquilibre de genre visible dans nos données (29 % F sur MovieLens, 19 % d'autrices sur OpenAlex) fait écho à une réalité que j'ai observée dans mon propre parcours :</a:t>
            </a:r>
          </a:p>
          <a:p>
            <a:pPr>
              <a:spcAft>
                <a:spcPts val="866"/>
              </a:spcAft>
            </a:pPr>
            <a:r>
              <a:rPr sz="1300" b="0" i="0">
                <a:solidFill>
                  <a:srgbClr val="1A1A1A"/>
                </a:solidFill>
              </a:rPr>
              <a:t>Sénégal — entreprises numériques dirigées par des femmes : 15 % (2019)</a:t>
            </a:r>
          </a:p>
          <a:p>
            <a:pPr>
              <a:spcAft>
                <a:spcPts val="866"/>
              </a:spcAft>
            </a:pPr>
            <a:r>
              <a:rPr sz="1300" b="0" i="0">
                <a:solidFill>
                  <a:srgbClr val="1A1A1A"/>
                </a:solidFill>
              </a:rPr>
              <a:t>Canada — femmes en génie informatique/logiciel : ~10–14 %</a:t>
            </a:r>
          </a:p>
          <a:p>
            <a:pPr>
              <a:spcAft>
                <a:spcPts val="0"/>
              </a:spcAft>
            </a:pPr>
            <a:r>
              <a:rPr sz="1300" b="0" i="0">
                <a:solidFill>
                  <a:srgbClr val="1A1A1A"/>
                </a:solidFill>
              </a:rPr>
              <a:t>France — femmes dans les métiers techniques du numérique : 17 % (2024)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r>
              <a:rPr sz="3000" b="1">
                <a:solidFill>
                  <a:srgbClr val="63003C"/>
                </a:solidFill>
                <a:latin typeface="Georgia"/>
              </a:rPr>
              <a:t>4. Le graphe biparti G et son résumé G′</a:t>
            </a:r>
          </a:p>
        </p:txBody>
      </p:sp>
      <p:pic>
        <p:nvPicPr>
          <p:cNvPr id="3" name="Picture 2" descr="image.png"/>
          <p:cNvPicPr>
            <a:picLocks noChangeAspect="1"/>
          </p:cNvPicPr>
          <p:nvPr/>
        </p:nvPicPr>
        <p:blipFill>
          <a:blip r:embed="rId2"/>
          <a:stretch>
            <a:fillRect/>
          </a:stretch>
        </p:blipFill>
        <p:spPr>
          <a:xfrm>
            <a:off x="685800" y="1500000"/>
            <a:ext cx="5244960" cy="3195073"/>
          </a:xfrm>
          <a:prstGeom prst="rect">
            <a:avLst/>
          </a:prstGeom>
        </p:spPr>
      </p:pic>
      <p:pic>
        <p:nvPicPr>
          <p:cNvPr id="4" name="Picture 3" descr="image.png"/>
          <p:cNvPicPr>
            <a:picLocks noChangeAspect="1"/>
          </p:cNvPicPr>
          <p:nvPr/>
        </p:nvPicPr>
        <p:blipFill>
          <a:blip r:embed="rId3"/>
          <a:stretch>
            <a:fillRect/>
          </a:stretch>
        </p:blipFill>
        <p:spPr>
          <a:xfrm>
            <a:off x="6230760" y="1500000"/>
            <a:ext cx="5244960" cy="3195073"/>
          </a:xfrm>
          <a:prstGeom prst="rect">
            <a:avLst/>
          </a:prstGeom>
        </p:spPr>
      </p:pic>
      <p:sp>
        <p:nvSpPr>
          <p:cNvPr id="5" name="TextBox 4"/>
          <p:cNvSpPr txBox="1"/>
          <p:nvPr/>
        </p:nvSpPr>
        <p:spPr>
          <a:xfrm>
            <a:off x="685800" y="4745073"/>
            <a:ext cx="5244960" cy="280000"/>
          </a:xfrm>
          <a:prstGeom prst="rect">
            <a:avLst/>
          </a:prstGeom>
          <a:noFill/>
        </p:spPr>
        <p:txBody>
          <a:bodyPr wrap="square">
            <a:spAutoFit/>
          </a:bodyPr>
          <a:lstStyle/>
          <a:p>
            <a:pPr algn="ctr"/>
            <a:r>
              <a:rPr sz="1200" b="1">
                <a:solidFill>
                  <a:srgbClr val="555555"/>
                </a:solidFill>
              </a:rPr>
              <a:t>Graphe original G</a:t>
            </a:r>
          </a:p>
        </p:txBody>
      </p:sp>
      <p:sp>
        <p:nvSpPr>
          <p:cNvPr id="6" name="TextBox 5"/>
          <p:cNvSpPr txBox="1"/>
          <p:nvPr/>
        </p:nvSpPr>
        <p:spPr>
          <a:xfrm>
            <a:off x="6230760" y="4745073"/>
            <a:ext cx="5244960" cy="280000"/>
          </a:xfrm>
          <a:prstGeom prst="rect">
            <a:avLst/>
          </a:prstGeom>
          <a:noFill/>
        </p:spPr>
        <p:txBody>
          <a:bodyPr wrap="square">
            <a:spAutoFit/>
          </a:bodyPr>
          <a:lstStyle/>
          <a:p>
            <a:pPr algn="ctr"/>
            <a:r>
              <a:rPr sz="1200" b="1">
                <a:solidFill>
                  <a:srgbClr val="555555"/>
                </a:solidFill>
              </a:rPr>
              <a:t>Graphe résumé G′ (fusion en super-nœuds)</a:t>
            </a:r>
          </a:p>
        </p:txBody>
      </p:sp>
      <p:sp>
        <p:nvSpPr>
          <p:cNvPr id="7" name="TextBox 6"/>
          <p:cNvSpPr txBox="1"/>
          <p:nvPr/>
        </p:nvSpPr>
        <p:spPr>
          <a:xfrm>
            <a:off x="685800" y="5045073"/>
            <a:ext cx="10789920" cy="240000"/>
          </a:xfrm>
          <a:prstGeom prst="rect">
            <a:avLst/>
          </a:prstGeom>
          <a:noFill/>
        </p:spPr>
        <p:txBody>
          <a:bodyPr wrap="square">
            <a:spAutoFit/>
          </a:bodyPr>
          <a:lstStyle/>
          <a:p>
            <a:pPr algn="ctr"/>
            <a:r>
              <a:rPr sz="1000" b="0" i="1">
                <a:solidFill>
                  <a:srgbClr val="555555"/>
                </a:solidFill>
              </a:rPr>
              <a:t>Captures du tableau de bord interactif — sitaacisse-boop.github.io/EDI</a:t>
            </a:r>
          </a:p>
        </p:txBody>
      </p:sp>
      <p:sp>
        <p:nvSpPr>
          <p:cNvPr id="8" name="Rectangle 7"/>
          <p:cNvSpPr/>
          <p:nvPr/>
        </p:nvSpPr>
        <p:spPr>
          <a:xfrm>
            <a:off x="548640" y="6446520"/>
            <a:ext cx="11091672" cy="27940"/>
          </a:xfrm>
          <a:prstGeom prst="rect">
            <a:avLst/>
          </a:prstGeom>
          <a:solidFill>
            <a:srgbClr val="630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521440" y="6492240"/>
            <a:ext cx="548640" cy="320040"/>
          </a:xfrm>
          <a:prstGeom prst="rect">
            <a:avLst/>
          </a:prstGeom>
          <a:noFill/>
        </p:spPr>
        <p:txBody>
          <a:bodyPr wrap="none">
            <a:spAutoFit/>
          </a:bodyPr>
          <a:lstStyle/>
          <a:p>
            <a:pPr algn="r"/>
            <a:r>
              <a:rPr sz="1100">
                <a:solidFill>
                  <a:srgbClr val="555555"/>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4. Validation — Démonstration en Direct</a:t>
            </a:r>
          </a:p>
        </p:txBody>
      </p:sp>
      <p:sp>
        <p:nvSpPr>
          <p:cNvPr id="5" name="Rectangle 4"/>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9</a:t>
            </a:r>
          </a:p>
        </p:txBody>
      </p:sp>
      <p:sp>
        <p:nvSpPr>
          <p:cNvPr id="7" name="TextBox 6"/>
          <p:cNvSpPr txBox="1"/>
          <p:nvPr/>
        </p:nvSpPr>
        <p:spPr>
          <a:xfrm>
            <a:off x="685800" y="1463040"/>
            <a:ext cx="10789920" cy="1400000"/>
          </a:xfrm>
          <a:prstGeom prst="rect">
            <a:avLst/>
          </a:prstGeom>
          <a:noFill/>
        </p:spPr>
        <p:txBody>
          <a:bodyPr wrap="square">
            <a:spAutoFit/>
          </a:bodyPr>
          <a:lstStyle/>
          <a:p>
            <a:pPr>
              <a:spcAft>
                <a:spcPts val="1400"/>
              </a:spcAft>
            </a:pPr>
            <a:r>
              <a:rPr sz="2200">
                <a:solidFill>
                  <a:srgbClr val="1A1A1A"/>
                </a:solidFill>
              </a:rPr>
              <a:t>•  5 jeux de données, 4 domaines : MovieLens 100k et 1M, libimseti.cz, Rate My Professors, OpenAlex</a:t>
            </a:r>
          </a:p>
          <a:p>
            <a:pPr>
              <a:spcAft>
                <a:spcPts val="1400"/>
              </a:spcAft>
            </a:pPr>
            <a:r>
              <a:rPr sz="2200">
                <a:solidFill>
                  <a:srgbClr val="1A1A1A"/>
                </a:solidFill>
              </a:rPr>
              <a:t>•  Bascule vers le tableau de bord interactif :</a:t>
            </a:r>
          </a:p>
        </p:txBody>
      </p:sp>
      <p:sp>
        <p:nvSpPr>
          <p:cNvPr id="8" name="TextBox 7"/>
          <p:cNvSpPr txBox="1"/>
          <p:nvPr/>
        </p:nvSpPr>
        <p:spPr>
          <a:xfrm>
            <a:off x="3640380" y="3291840"/>
            <a:ext cx="4880760" cy="553998"/>
          </a:xfrm>
          <a:prstGeom prst="rect">
            <a:avLst/>
          </a:prstGeom>
          <a:noFill/>
        </p:spPr>
        <p:txBody>
          <a:bodyPr wrap="none">
            <a:spAutoFit/>
          </a:bodyPr>
          <a:lstStyle/>
          <a:p>
            <a:pPr algn="ctr"/>
            <a:r>
              <a:rPr sz="3000" b="1" dirty="0">
                <a:solidFill>
                  <a:srgbClr val="63003C"/>
                </a:solidFill>
                <a:hlinkClick r:id="rId2"/>
              </a:rPr>
              <a:t>sitaacisse-boop.github.io/EDI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5. Conclusion — Résultats Clés</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1900">
                <a:solidFill>
                  <a:srgbClr val="1A1A1A"/>
                </a:solidFill>
              </a:defRPr>
            </a:pPr>
            <a:r>
              <a:rPr sz="1900">
                <a:solidFill>
                  <a:srgbClr val="1A1A1A"/>
                </a:solidFill>
              </a:rPr>
              <a:t>•  Aucune méthode de référence ne satisfait les trois critères EDI simultanément</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10</a:t>
            </a:r>
          </a:p>
        </p:txBody>
      </p:sp>
      <p:pic>
        <p:nvPicPr>
          <p:cNvPr id="6" name="Picture 5" descr="shot_conclusion_table_fresh.png"/>
          <p:cNvPicPr>
            <a:picLocks noChangeAspect="1"/>
          </p:cNvPicPr>
          <p:nvPr/>
        </p:nvPicPr>
        <p:blipFill>
          <a:blip r:embed="rId3"/>
          <a:stretch>
            <a:fillRect/>
          </a:stretch>
        </p:blipFill>
        <p:spPr>
          <a:xfrm>
            <a:off x="685800" y="2000000"/>
            <a:ext cx="10789920" cy="40167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5. Conclusion — Contribution et Perspectives</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1900">
                <a:solidFill>
                  <a:srgbClr val="1A1A1A"/>
                </a:solidFill>
              </a:defRPr>
            </a:pPr>
            <a:r>
              <a:t>•  Intégrer l'EDI directement dans la structure du résumé produit des compromis équité-diversité plus robustes que la correction a posteriori</a:t>
            </a:r>
          </a:p>
          <a:p>
            <a:pPr>
              <a:spcAft>
                <a:spcPts val="1400"/>
              </a:spcAft>
              <a:defRPr sz="1900">
                <a:solidFill>
                  <a:srgbClr val="1A1A1A"/>
                </a:solidFill>
              </a:defRPr>
            </a:pPr>
            <a:r>
              <a:t>•  AURORA égale ou dépasse le re-classement sur les corpus plus petits ou côté item, mais pas sur les grandes bases ou les domaines à préférences réciproques</a:t>
            </a:r>
          </a:p>
          <a:p>
            <a:pPr>
              <a:spcAft>
                <a:spcPts val="1400"/>
              </a:spcAft>
              <a:defRPr sz="1900">
                <a:solidFill>
                  <a:srgbClr val="1A1A1A"/>
                </a:solidFill>
              </a:defRPr>
            </a:pPr>
            <a:r>
              <a:t>•  Perspectives :</a:t>
            </a:r>
          </a:p>
          <a:p>
            <a:pPr>
              <a:spcAft>
                <a:spcPts val="800"/>
              </a:spcAft>
              <a:defRPr sz="1600">
                <a:solidFill>
                  <a:srgbClr val="555555"/>
                </a:solidFill>
              </a:defRPr>
            </a:pPr>
            <a:r>
              <a:t>      ‒  Attributs sensibles multiples et simultanés</a:t>
            </a:r>
          </a:p>
          <a:p>
            <a:pPr>
              <a:spcAft>
                <a:spcPts val="800"/>
              </a:spcAft>
              <a:defRPr sz="1600">
                <a:solidFill>
                  <a:srgbClr val="555555"/>
                </a:solidFill>
              </a:defRPr>
            </a:pPr>
            <a:r>
              <a:t>      ‒  Graphes de préférences dynamiques</a:t>
            </a:r>
          </a:p>
          <a:p>
            <a:pPr>
              <a:spcAft>
                <a:spcPts val="800"/>
              </a:spcAft>
              <a:defRPr sz="1600">
                <a:solidFill>
                  <a:srgbClr val="555555"/>
                </a:solidFill>
              </a:defRPr>
            </a:pPr>
            <a:r>
              <a:t>      ‒  Calibration des tolérances ε par analyse de front de Pareto</a:t>
            </a:r>
          </a:p>
          <a:p>
            <a:pPr>
              <a:spcAft>
                <a:spcPts val="800"/>
              </a:spcAft>
              <a:defRPr sz="1600">
                <a:solidFill>
                  <a:srgbClr val="555555"/>
                </a:solidFill>
              </a:defRPr>
            </a:pPr>
            <a:r>
              <a:t>      ‒  Fusion guidée par détection de communautés et impact EDI</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66130A0-1149-3472-655C-80C3F885A861}"/>
              </a:ext>
            </a:extLst>
          </p:cNvPr>
          <p:cNvSpPr txBox="1"/>
          <p:nvPr/>
        </p:nvSpPr>
        <p:spPr>
          <a:xfrm>
            <a:off x="3048000" y="3152001"/>
            <a:ext cx="6096000" cy="553998"/>
          </a:xfrm>
          <a:prstGeom prst="rect">
            <a:avLst/>
          </a:prstGeom>
          <a:noFill/>
        </p:spPr>
        <p:txBody>
          <a:bodyPr wrap="square">
            <a:spAutoFit/>
          </a:bodyPr>
          <a:lstStyle/>
          <a:p>
            <a:pPr algn="ctr"/>
            <a:r>
              <a:rPr lang="fr-FR" sz="3000" b="1" dirty="0">
                <a:solidFill>
                  <a:srgbClr val="63003C"/>
                </a:solidFill>
                <a:hlinkClick r:id="rId2"/>
              </a:rPr>
              <a:t>sitaacisse-boop.github.io/EDI</a:t>
            </a:r>
          </a:p>
        </p:txBody>
      </p:sp>
    </p:spTree>
    <p:extLst>
      <p:ext uri="{BB962C8B-B14F-4D97-AF65-F5344CB8AC3E}">
        <p14:creationId xmlns:p14="http://schemas.microsoft.com/office/powerpoint/2010/main" val="196807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Références (1/2)</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1600">
                <a:solidFill>
                  <a:srgbClr val="1A1A1A"/>
                </a:solidFill>
              </a:defRPr>
            </a:pPr>
            <a:r>
              <a:t>•  Aird et al. — Exploring Social Choice Mechanisms for Recommendation Fairness in SCRUF (2023)</a:t>
            </a:r>
          </a:p>
          <a:p>
            <a:pPr>
              <a:spcAft>
                <a:spcPts val="1400"/>
              </a:spcAft>
              <a:defRPr sz="1600">
                <a:solidFill>
                  <a:srgbClr val="1A1A1A"/>
                </a:solidFill>
              </a:defRPr>
            </a:pPr>
            <a:r>
              <a:t>•  Aird et al. — Social Choice for Heterogeneous Fairness in Recommendation, SCRUF-D (2024)</a:t>
            </a:r>
          </a:p>
          <a:p>
            <a:pPr>
              <a:spcAft>
                <a:spcPts val="1400"/>
              </a:spcAft>
              <a:defRPr sz="1600">
                <a:solidFill>
                  <a:srgbClr val="1A1A1A"/>
                </a:solidFill>
              </a:defRPr>
            </a:pPr>
            <a:r>
              <a:t>•  Dong et al. — Fairness in Graph Mining: A Survey. IEEE TKDE (2023)</a:t>
            </a:r>
          </a:p>
          <a:p>
            <a:pPr>
              <a:spcAft>
                <a:spcPts val="1400"/>
              </a:spcAft>
              <a:defRPr sz="1600">
                <a:solidFill>
                  <a:srgbClr val="1A1A1A"/>
                </a:solidFill>
              </a:defRPr>
            </a:pPr>
            <a:r>
              <a:t>•  Harper &amp; Konstan — The MovieLens Datasets: History and Context. ACM TiiS (2015)</a:t>
            </a:r>
          </a:p>
          <a:p>
            <a:pPr>
              <a:spcAft>
                <a:spcPts val="1400"/>
              </a:spcAft>
              <a:defRPr sz="1600">
                <a:solidFill>
                  <a:srgbClr val="1A1A1A"/>
                </a:solidFill>
              </a:defRPr>
            </a:pPr>
            <a:r>
              <a:t>•  Kellerhals &amp; Peters — Proportional Fairness in Clustering (2024)</a:t>
            </a:r>
          </a:p>
          <a:p>
            <a:pPr>
              <a:spcAft>
                <a:spcPts val="1400"/>
              </a:spcAft>
              <a:defRPr sz="1600">
                <a:solidFill>
                  <a:srgbClr val="1A1A1A"/>
                </a:solidFill>
              </a:defRPr>
            </a:pPr>
            <a:r>
              <a:t>•  Leonhardt et al. — User Fairness in Recommender Systems (2018)</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914400"/>
          </a:xfrm>
          <a:prstGeom prst="rect">
            <a:avLst/>
          </a:prstGeom>
          <a:noFill/>
        </p:spPr>
        <p:txBody>
          <a:bodyPr wrap="square">
            <a:spAutoFit/>
          </a:bodyPr>
          <a:lstStyle/>
          <a:p>
            <a:pPr>
              <a:defRPr sz="3000" b="1">
                <a:solidFill>
                  <a:srgbClr val="63003C"/>
                </a:solidFill>
                <a:latin typeface="Georgia"/>
              </a:defRPr>
            </a:pPr>
            <a:r>
              <a:t>Références (2/2)</a:t>
            </a:r>
          </a:p>
        </p:txBody>
      </p:sp>
      <p:sp>
        <p:nvSpPr>
          <p:cNvPr id="3" name="TextBox 2"/>
          <p:cNvSpPr txBox="1"/>
          <p:nvPr/>
        </p:nvSpPr>
        <p:spPr>
          <a:xfrm>
            <a:off x="685800" y="1371600"/>
            <a:ext cx="10789920" cy="4846320"/>
          </a:xfrm>
          <a:prstGeom prst="rect">
            <a:avLst/>
          </a:prstGeom>
          <a:noFill/>
        </p:spPr>
        <p:txBody>
          <a:bodyPr wrap="square">
            <a:spAutoFit/>
          </a:bodyPr>
          <a:lstStyle/>
          <a:p>
            <a:pPr>
              <a:spcAft>
                <a:spcPts val="1400"/>
              </a:spcAft>
              <a:defRPr sz="1600">
                <a:solidFill>
                  <a:srgbClr val="1A1A1A"/>
                </a:solidFill>
              </a:defRPr>
            </a:pPr>
            <a:r>
              <a:t>•  Liu et al. — Graph Summarization Methods and Applications: A Survey (2018)</a:t>
            </a:r>
          </a:p>
          <a:p>
            <a:pPr>
              <a:spcAft>
                <a:spcPts val="1400"/>
              </a:spcAft>
              <a:defRPr sz="1600">
                <a:solidFill>
                  <a:srgbClr val="1A1A1A"/>
                </a:solidFill>
              </a:defRPr>
            </a:pPr>
            <a:r>
              <a:t>•  Ricci, Rokach &amp; Shapira — Recommender Systems Handbook (2011)</a:t>
            </a:r>
          </a:p>
          <a:p>
            <a:pPr>
              <a:spcAft>
                <a:spcPts val="1400"/>
              </a:spcAft>
              <a:defRPr sz="1600">
                <a:solidFill>
                  <a:srgbClr val="1A1A1A"/>
                </a:solidFill>
              </a:defRPr>
            </a:pPr>
            <a:r>
              <a:t>•  Roy, Schieber &amp; Talmon — Fairness in Preference Queries. VLDB (2024)</a:t>
            </a:r>
          </a:p>
          <a:p>
            <a:pPr>
              <a:spcAft>
                <a:spcPts val="1400"/>
              </a:spcAft>
              <a:defRPr sz="1600">
                <a:solidFill>
                  <a:srgbClr val="1A1A1A"/>
                </a:solidFill>
              </a:defRPr>
            </a:pPr>
            <a:r>
              <a:t>•  Shabani et al. — Graph Summarization with GNNs: A Survey (2024)</a:t>
            </a:r>
          </a:p>
          <a:p>
            <a:pPr>
              <a:spcAft>
                <a:spcPts val="1400"/>
              </a:spcAft>
              <a:defRPr sz="1600">
                <a:solidFill>
                  <a:srgbClr val="1A1A1A"/>
                </a:solidFill>
              </a:defRPr>
            </a:pPr>
            <a:r>
              <a:t>•  Yao &amp; Huang — New Fairness Metrics for Recommendation (2017)</a:t>
            </a:r>
          </a:p>
          <a:p>
            <a:pPr>
              <a:spcAft>
                <a:spcPts val="1400"/>
              </a:spcAft>
              <a:defRPr sz="1600">
                <a:solidFill>
                  <a:srgbClr val="1A1A1A"/>
                </a:solidFill>
              </a:defRPr>
            </a:pPr>
            <a:r>
              <a:t>•  Zhao et al. — Fairness and Diversity in Recommender Systems: A Survey (2024)</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560320"/>
            <a:ext cx="10332720" cy="1097280"/>
          </a:xfrm>
          <a:prstGeom prst="rect">
            <a:avLst/>
          </a:prstGeom>
          <a:noFill/>
        </p:spPr>
        <p:txBody>
          <a:bodyPr wrap="none">
            <a:spAutoFit/>
          </a:bodyPr>
          <a:lstStyle/>
          <a:p>
            <a:pPr algn="ctr">
              <a:defRPr sz="4800" b="1">
                <a:solidFill>
                  <a:srgbClr val="63003C"/>
                </a:solidFill>
              </a:defRPr>
            </a:pPr>
            <a:r>
              <a:t>Merci</a:t>
            </a:r>
          </a:p>
        </p:txBody>
      </p:sp>
      <p:sp>
        <p:nvSpPr>
          <p:cNvPr id="3" name="TextBox 2"/>
          <p:cNvSpPr txBox="1"/>
          <p:nvPr/>
        </p:nvSpPr>
        <p:spPr>
          <a:xfrm>
            <a:off x="914400" y="3566160"/>
            <a:ext cx="10332720" cy="731520"/>
          </a:xfrm>
          <a:prstGeom prst="rect">
            <a:avLst/>
          </a:prstGeom>
          <a:noFill/>
        </p:spPr>
        <p:txBody>
          <a:bodyPr wrap="none">
            <a:spAutoFit/>
          </a:bodyPr>
          <a:lstStyle/>
          <a:p>
            <a:pPr algn="ctr">
              <a:defRPr sz="2400">
                <a:solidFill>
                  <a:srgbClr val="555555"/>
                </a:solidFill>
              </a:defRPr>
            </a:pPr>
            <a:r>
              <a:t>Questions ?</a:t>
            </a:r>
          </a:p>
        </p:txBody>
      </p:sp>
      <p:sp>
        <p:nvSpPr>
          <p:cNvPr id="4" name="Rectangle 3"/>
          <p:cNvSpPr/>
          <p:nvPr/>
        </p:nvSpPr>
        <p:spPr>
          <a:xfrm>
            <a:off x="548640" y="6446520"/>
            <a:ext cx="11091672" cy="27940"/>
          </a:xfrm>
          <a:prstGeom prst="rect">
            <a:avLst/>
          </a:prstGeom>
          <a:solidFill>
            <a:srgbClr val="630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21440" y="6492240"/>
            <a:ext cx="548640" cy="320040"/>
          </a:xfrm>
          <a:prstGeom prst="rect">
            <a:avLst/>
          </a:prstGeom>
          <a:noFill/>
        </p:spPr>
        <p:txBody>
          <a:bodyPr wrap="none">
            <a:spAutoFit/>
          </a:bodyPr>
          <a:lstStyle/>
          <a:p>
            <a:pPr algn="r">
              <a:defRPr sz="1100">
                <a:solidFill>
                  <a:srgbClr val="555555"/>
                </a:solidFill>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404</TotalTime>
  <Words>1388</Words>
  <Application>Microsoft Macintosh PowerPoint</Application>
  <PresentationFormat>Grand écran</PresentationFormat>
  <Paragraphs>100</Paragraphs>
  <Slides>15</Slides>
  <Notes>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Aptos</vt: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Adji Cisse</cp:lastModifiedBy>
  <cp:revision>9</cp:revision>
  <dcterms:created xsi:type="dcterms:W3CDTF">2013-01-27T09:14:16Z</dcterms:created>
  <dcterms:modified xsi:type="dcterms:W3CDTF">2026-09-04T05:43:29Z</dcterms:modified>
  <cp:category/>
</cp:coreProperties>
</file>